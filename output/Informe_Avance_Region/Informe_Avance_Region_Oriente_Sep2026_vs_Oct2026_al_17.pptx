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4" r:id="rId36"/>
    <p:sldId id="296" r:id="rId37"/>
    <p:sldId id="297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0B0B"/>
                </a:solidFill>
              </a:rPr>
              <a:t>Diagnóstico de Ajustes y % Cumplimiento Aplicado a Lista de Precios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926080"/>
            <a:ext cx="1097280" cy="54864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2514E"/>
                </a:solidFill>
              </a:rPr>
              <a:t>Septiembre 2026 (cerrado) vs octubre al 17 (en curso) · Región Oriente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729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</a:rPr>
              <a:t>Todos los canales · avance del mes · datos a 17/10/2026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C8B87"/>
                </a:solidFill>
              </a:rPr>
              <a:t>Sistemas de Información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2. PANORAMA SEP 2026 VS OCT AL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La lista por kilo bajó 0,9%, y el neto por kilo subió 1,6%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68,3% → 69,9% · ajuste de precio de mercado 75,5% → 75,8% · fecha corta 92,8% → 94,1%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463040"/>
          <a:ext cx="9418318" cy="48188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332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5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5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5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</a:rPr>
                        <a:t>Indicador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0B0B"/>
                          </a:solidFill>
                        </a:rPr>
                        <a:t>Variación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</a:rPr>
                        <a:t>Venta bruta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$282.587.540.177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$160.214.691.461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-43,3%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</a:rPr>
                        <a:t>Venta neta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$192.881.117.050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$112.055.430.587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-41,9%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</a:rPr>
                        <a:t>Venta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21.236.616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12.146.170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-42,8%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</a:rPr>
                        <a:t>Precio lista por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$13.307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$13.191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-0,9%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0B0B0B"/>
                          </a:solidFill>
                        </a:rPr>
                        <a:t>Precio</a:t>
                      </a:r>
                      <a:r>
                        <a:rPr sz="1300" b="1" dirty="0">
                          <a:solidFill>
                            <a:srgbClr val="0B0B0B"/>
                          </a:solidFill>
                        </a:rPr>
                        <a:t> </a:t>
                      </a:r>
                      <a:r>
                        <a:rPr sz="1300" b="1" dirty="0" err="1">
                          <a:solidFill>
                            <a:srgbClr val="0B0B0B"/>
                          </a:solidFill>
                        </a:rPr>
                        <a:t>neto</a:t>
                      </a:r>
                      <a:r>
                        <a:rPr sz="1300" b="1" dirty="0">
                          <a:solidFill>
                            <a:srgbClr val="0B0B0B"/>
                          </a:solidFill>
                        </a:rPr>
                        <a:t> </a:t>
                      </a:r>
                      <a:r>
                        <a:rPr sz="1300" b="1" dirty="0" err="1">
                          <a:solidFill>
                            <a:srgbClr val="0B0B0B"/>
                          </a:solidFill>
                        </a:rPr>
                        <a:t>por</a:t>
                      </a:r>
                      <a:r>
                        <a:rPr sz="1300" b="1" dirty="0">
                          <a:solidFill>
                            <a:srgbClr val="0B0B0B"/>
                          </a:solidFill>
                        </a:rPr>
                        <a:t>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$9.082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$9.226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+1,6%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1" dirty="0">
                          <a:solidFill>
                            <a:srgbClr val="0B0B0B"/>
                          </a:solidFill>
                        </a:rPr>
                        <a:t>% </a:t>
                      </a:r>
                      <a:r>
                        <a:rPr sz="1300" b="1" dirty="0" err="1">
                          <a:solidFill>
                            <a:srgbClr val="0B0B0B"/>
                          </a:solidFill>
                        </a:rPr>
                        <a:t>aplicado</a:t>
                      </a:r>
                      <a:r>
                        <a:rPr sz="1300" b="1" dirty="0">
                          <a:solidFill>
                            <a:srgbClr val="0B0B0B"/>
                          </a:solidFill>
                        </a:rPr>
                        <a:t> al </a:t>
                      </a:r>
                      <a:r>
                        <a:rPr sz="1300" b="1" dirty="0" err="1">
                          <a:solidFill>
                            <a:srgbClr val="0B0B0B"/>
                          </a:solidFill>
                        </a:rPr>
                        <a:t>precio</a:t>
                      </a:r>
                      <a:r>
                        <a:rPr sz="1300" b="1" dirty="0">
                          <a:solidFill>
                            <a:srgbClr val="0B0B0B"/>
                          </a:solidFill>
                        </a:rPr>
                        <a:t> de </a:t>
                      </a:r>
                      <a:r>
                        <a:rPr sz="1300" b="1" dirty="0" err="1">
                          <a:solidFill>
                            <a:srgbClr val="0B0B0B"/>
                          </a:solidFill>
                        </a:rPr>
                        <a:t>lista</a:t>
                      </a:r>
                      <a:r>
                        <a:rPr sz="1300" b="1" dirty="0">
                          <a:solidFill>
                            <a:srgbClr val="0B0B0B"/>
                          </a:solidFill>
                        </a:rPr>
                        <a:t> general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68,3%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69,9%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+1,7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B0B0B"/>
                          </a:solidFill>
                        </a:rPr>
                        <a:t>% </a:t>
                      </a:r>
                      <a:r>
                        <a:rPr sz="1300" b="0" dirty="0" err="1">
                          <a:solidFill>
                            <a:srgbClr val="0B0B0B"/>
                          </a:solidFill>
                        </a:rPr>
                        <a:t>Ajuste</a:t>
                      </a:r>
                      <a:r>
                        <a:rPr sz="1300" b="0" dirty="0">
                          <a:solidFill>
                            <a:srgbClr val="0B0B0B"/>
                          </a:solidFill>
                        </a:rPr>
                        <a:t> general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31,7%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30,1%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-1,7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B0B0B"/>
                          </a:solidFill>
                        </a:rPr>
                        <a:t>Ajuste</a:t>
                      </a:r>
                      <a:r>
                        <a:rPr sz="1300" b="0" dirty="0">
                          <a:solidFill>
                            <a:srgbClr val="0B0B0B"/>
                          </a:solidFill>
                        </a:rPr>
                        <a:t> general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dirty="0">
                          <a:solidFill>
                            <a:srgbClr val="0B0B0B"/>
                          </a:solidFill>
                        </a:rPr>
                        <a:t>$89.706.423.127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$48.159.260.874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-46,3%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</a:rPr>
                        <a:t>% aplicado al precio de lista ajuste de precio de mercado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dirty="0">
                          <a:solidFill>
                            <a:srgbClr val="0B0B0B"/>
                          </a:solidFill>
                        </a:rPr>
                        <a:t>75,5%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75,8%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+0,4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</a:rPr>
                        <a:t>% Ajuste de precio de mercado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24,5%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24,2%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-0,4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</a:rPr>
                        <a:t>Ajuste de precio de mercado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$69.356.348.117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$38.739.327.785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-44,1%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</a:rPr>
                        <a:t>% aplicado al precio de lista fecha corta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92,8%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94,1%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+1,3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</a:rPr>
                        <a:t>% Ajuste de fecha corta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5,9%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-1,3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$20.350.075.010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$9.419.933.089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-53,7%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</a:rPr>
                        <a:t>Venta kg por día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707.887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714.481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+0,9%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</a:rPr>
                        <a:t>Venta bruta por día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$9.419.584.673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$9.424.393.615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dirty="0">
                          <a:solidFill>
                            <a:srgbClr val="0B0B0B"/>
                          </a:solidFill>
                        </a:rPr>
                        <a:t>+0,1%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2. PANORAMA SEP 2026 VS OCT AL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4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83" y="914400"/>
            <a:ext cx="11125528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3. RANGOS DE % APLICADO AL PRECIO DE LISTA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Región Oriente: la venta con ajuste sigue concentrada en “Mas de 67 menos de 70%”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68,3% → 69,9% · ajuste de precio de mercado 75,5% → 75,8% · fecha corta 92,8% → 94,1%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5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87" y="1463040"/>
            <a:ext cx="931892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3. RANGOS DE % APLICADO AL PRECIO DE LISTA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Región Oriente: participación y ajuste en pesos en cada 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mes cerrado vs en curso · Sep 2026 vs Oct al 17 · rango de % aplicado al precio de lista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7287" cy="46040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bruta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Rango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100% O MAS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97 menos de 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$4.674.542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$3.070.197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$4.461.296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$2.998.538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$213.246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$71.659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95 menos de 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$4.198.619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$1.811.712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$4.077.627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$1.451.687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$120.992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$360.025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93 menos de 95%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$6.396.444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$3.898.797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$6.257.227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$3.712.828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$139.217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$185.969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90 menos de 93%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$61.997.610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$28.096.208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$61.089.075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$27.188.722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$908.535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$907.486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87 menos de 90%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$79.111.246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$28.232.701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$74.482.953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$25.080.977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$4.628.293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$3.151.724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85 menos de 87%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$252.303.984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$108.862.207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$221.337.224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$99.883.414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$30.966.760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$8.978.793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83 menos de 85%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$124.367.333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$65.454.075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$104.457.298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$60.298.063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$19.910.035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$5.156.012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80 menos de 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$593.379.555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$365.447.700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$495.273.842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$295.430.401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$98.105.713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$70.017.299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77 menos de 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$863.177.389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$546.343.133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$530.065.362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$295.395.415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$333.112.027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$250.947.718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75 menos de 77%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$1.606.618.219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$1.330.348.895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$951.384.969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$731.280.688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$655.233.250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$599.068.207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73 menos de 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$1.827.719.513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$1.340.334.885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$1.095.886.012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$599.114.718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$731.833.501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$741.220.167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70 menos de 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$10.559.777.561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$9.625.232.269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$8.897.379.916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$8.830.388.812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$1.662.397.645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$794.843.457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67 menos de 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18,6%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24,8%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16,6%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$16.621.011.494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$12.587.557.146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$14.849.474.538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$11.790.249.602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$1.771.536.956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$797.307.544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65 menos de 67%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13,3%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$15.770.141.732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$7.636.832.825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$13.907.899.095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$6.470.802.467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$1.862.242.637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$1.166.030.358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63 menos de 65%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13,3%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$14.744.349.589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$5.322.273.142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$13.012.404.242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$4.351.092.211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$1.731.945.347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$971.180.931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60 menos de 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$12.855.575.529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$4.351.989.754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$9.672.340.854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$3.236.285.525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$3.183.234.675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$1.115.704.229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57 menos de 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$4.711.843.763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$1.279.777.488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$2.740.225.072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$718.717.718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$1.971.618.691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$561.059.770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55 menos de 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$2.154.315.090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$672.348.175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$746.259.779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$270.470.578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$1.408.055.311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$401.877.597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53 menos de 55%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$1.159.389.340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$468.534.193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$467.295.485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$237.702.317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$692.093.855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$230.831.876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50 menos de 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$2.117.144.528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$637.629.198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$954.167.533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$279.278.025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$1.162.976.995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$358.351.173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Menos de 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$3.548.006.709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$1.706.092.465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$519.784.734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$363.517.970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$3.028.221.975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$1.342.574.495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4. RANGOS DE % DE LISTA PRECIO · CANAL DE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0B0B"/>
                </a:solidFill>
              </a:rPr>
              <a:t>Canal de distribución: Puntos Venta tuvo la mayor caída del % aplicado al precio de lista general (68,5% → 69,4%)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Región Oriente · venta kg, venta bruta y los tres % aplicados al precio de lista con sus ajustes — mes cerrado vs en curso · Sep 2026 vs Oct al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9144000" cy="13898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Venta bruta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0B0B"/>
                          </a:solidFill>
                        </a:rPr>
                        <a:t>Canal de distribución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</a:rPr>
                        <a:t>Mayoreo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19.213.279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10.976.099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$242.047.310.614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$136.974.678.522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$76.948.159.487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$41.098.961.713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</a:rPr>
                        <a:t>Puntos Venta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2.023.337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1.152.984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$40.540.229.563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$23.058.500.067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$12.758.263.640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$7.060.299.161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</a:rPr>
                        <a:t>Exportación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17.086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$181.512.872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017520"/>
          <a:ext cx="11277287" cy="14508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aplicado general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Ajuste general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aplicado ajuste precio mercado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Ajuste precio mercado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aplicado fecha corta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Ajuste de fecha corta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0B0B"/>
                          </a:solidFill>
                        </a:rPr>
                        <a:t>Canal de distribución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</a:rPr>
                        <a:t>Mayoreo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68,2%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31,8%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30,0%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73,5%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26,5%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94,7%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5,3%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</a:rPr>
                        <a:t>Puntos Venta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68,5%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69,4%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31,5%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30,6%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87,4%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88,6%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12,6%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11,4%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81,1%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80,7%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18,9%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19,3%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</a:rPr>
                        <a:t>Exportación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4. RANGOS DE % DE LISTA PRECIO · CANAL DE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Mayoreo (Región Oriente): la venta con ajuste sigue concentrada en “Mas de 67 menos de 70%”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68,2% → 70,0% · ajuste de precio de mercado 73,5% → 73,6% · fecha corta 94,7% → 96,4%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8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87" y="1463040"/>
            <a:ext cx="931892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4. RANGOS DE % DE LISTA PRECIO · CANAL DE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Mayoreo (Región Oriente): participación y ajuste en pesos en cada 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mes cerrado vs en curso · Sep 2026 vs Oct al 17 · rango de % aplicado al precio de lista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7287" cy="46040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bruta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Rango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100% O MAS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97 menos de 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$4.264.858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$2.619.586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$4.106.078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$2.603.486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$158.780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$16.100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95 menos de 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$1.935.029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$872.782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$1.917.564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$697.241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$17.465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$175.541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93 menos de 95%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$2.708.909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$1.717.956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$2.661.921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$1.685.409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$46.988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$32.547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90 menos de 93%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$48.673.752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$20.498.119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$48.352.687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$20.293.740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$321.065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$204.379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87 menos de 90%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$73.806.575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$25.062.632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$70.195.400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$22.200.300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$3.611.175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$2.862.332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85 menos de 87%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$180.541.434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$95.773.702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$176.006.933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$93.450.943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$4.534.501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$2.322.759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83 menos de 85%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$84.739.720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$61.962.551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$81.528.775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$59.307.321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$3.210.945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$2.655.230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80 menos de 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$428.331.887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$263.424.567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$409.898.850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$251.533.079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$18.433.037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$11.891.488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77 menos de 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$536.469.083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$308.660.165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$380.201.531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$214.980.715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$156.267.552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$93.679.450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75 menos de 77%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$754.006.703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$663.384.127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$593.445.871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$535.840.260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$160.560.832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$127.543.867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73 menos de 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$1.054.336.072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$525.723.756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$814.720.419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$364.754.039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$239.615.653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$160.969.717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70 menos de 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19,0%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$8.709.503.072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$8.791.138.676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$8.159.872.672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$8.566.907.938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$549.630.400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$224.230.738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67 menos de 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19,2%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16,9%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23,7%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$14.756.039.378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$11.819.284.423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$13.995.970.458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$11.410.254.744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$760.068.920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$409.029.679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65 menos de 67%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16,9%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13,7%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13,1%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$13.985.137.721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$6.376.341.623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$13.094.374.861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$5.968.773.707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$890.762.860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$407.567.916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63 menos de 65%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13,8%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$13.538.662.705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$4.418.525.873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$12.529.140.305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$3.980.506.547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$1.009.522.400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$438.019.326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60 menos de 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$10.935.195.862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$3.399.760.528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$9.071.543.735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$2.857.792.409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$1.863.652.127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$541.968.119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57 menos de 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$3.723.216.443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$1.047.540.125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$2.328.877.472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$592.838.595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$1.394.338.971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$454.701.530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55 menos de 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$1.565.428.599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$517.179.930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$549.569.997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$247.617.130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$1.015.858.602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$269.562.800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53 menos de 55%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$1.023.582.346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$407.749.849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$437.671.168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$236.473.977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$585.911.178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$171.275.872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50 menos de 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$1.956.962.440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$598.699.234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$930.757.910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$278.451.029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$1.026.204.530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$320.248.205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Menos de 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$3.544.295.103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$1.703.947.800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$518.914.615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$362.552.232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$3.025.380.488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$1.341.395.568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4. RANGOS DE % DE LISTA PRECIO · CANAL DE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0B0B"/>
                </a:solidFill>
              </a:rPr>
              <a:t>Puntos Venta (Región Oriente): la venta con ajuste pasó del rango “Mas de 70 menos de 73%” al “Mas de 65 menos de 67%”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68,5% → 69,4% · ajuste de precio de mercado 87,4% → 88,6% · fecha corta 81,1% → 80,7%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10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87" y="1463040"/>
            <a:ext cx="931892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4. RANGOS DE % DE LISTA PRECIO · CANAL DE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Puntos Venta (Región Oriente): participación y ajuste en pesos en cada 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mes cerrado vs en curso · Sep 2026 vs Oct al 17 · rango de % aplicado al precio de lista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7287" cy="46040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bruta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Rango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100% O MAS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97 menos de 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$409.684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$450.611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$355.218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$395.052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$54.466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$55.559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95 menos de 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$2.263.590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$938.930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$2.160.063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$754.446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$103.527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$184.484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93 menos de 95%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$3.687.535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$2.180.841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$3.595.306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$2.027.419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$92.229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$153.422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90 menos de 93%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$13.323.858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$7.598.089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$12.736.388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$6.894.982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$587.470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$703.107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87 menos de 90%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$5.304.671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$3.170.069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$4.287.553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$2.880.677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$1.017.118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$289.392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85 menos de 87%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$71.762.550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$13.088.505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$45.330.291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$6.432.471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$26.432.259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$6.656.034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83 menos de 85%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$39.627.613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$3.491.524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$22.928.523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$990.742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$16.699.090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$2.500.782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80 menos de 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$165.047.668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$102.023.133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$85.374.992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$43.897.322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$79.672.676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$58.125.811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77 menos de 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$326.708.306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$237.682.968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$149.863.831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$80.414.700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$176.844.475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$157.268.268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75 menos de 77%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$852.611.516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$666.964.768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$357.939.098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$195.440.428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$494.672.418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$471.524.340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73 menos de 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13,5%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$773.383.441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$814.611.129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$281.165.593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$234.360.679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$492.217.848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$580.250.450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70 menos de 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16,0%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$1.850.274.489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$834.093.593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$737.507.244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$263.480.874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$1.112.767.245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$570.612.719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67 menos de 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$1.864.972.116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$768.272.723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$853.504.080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$379.994.858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$1.011.468.036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$388.277.865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65 menos de 67%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13,0%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16,0%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$1.785.004.011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$1.260.491.202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$813.524.234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$502.028.760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$971.479.777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$758.462.442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63 menos de 65%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$1.205.686.884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$903.747.269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$483.263.937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$370.585.664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$722.422.947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$533.161.605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60 menos de 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$1.920.379.667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$952.229.226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$600.797.119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$378.493.116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$1.319.582.548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$573.736.110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57 menos de 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$988.627.320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$232.237.363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$411.347.600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$125.879.123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$577.279.720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$106.358.240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55 menos de 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$588.886.491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$155.168.245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$196.689.782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$22.853.448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$392.196.709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$132.314.797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53 menos de 55%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$135.806.994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$60.784.344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$29.624.317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$1.228.340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$106.182.677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$59.556.004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50 menos de 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$160.182.088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$38.929.964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$23.409.623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$826.996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$136.772.465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$38.102.968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Menos de 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$3.711.606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$2.144.665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$870.119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$965.738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$2.841.487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$1.178.927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4. RANGOS DE % DE LISTA PRECIO · CANAL DE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Exportación (Región Oriente): sin venta con ajuste en Oct al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- → 100,0% · ajuste de precio de mercado - → 100,0% · fecha corta - → 100,0%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12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02" y="1463040"/>
            <a:ext cx="933469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4. RANGOS DE % DE LISTA PRECIO · CANAL DE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Exportación (Región Oriente): participación y ajuste en pesos en cada 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mes cerrado vs en curso · Sep 2026 vs Oct al 17 · rango de % aplicado al precio de lista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7287" cy="46040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bruta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Rango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100% O MAS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97 menos de 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95 menos de 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93 menos de 95%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90 menos de 93%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87 menos de 90%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85 menos de 87%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83 menos de 85%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80 menos de 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77 menos de 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75 menos de 77%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73 menos de 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70 menos de 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67 menos de 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65 menos de 67%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63 menos de 65%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60 menos de 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57 menos de 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55 menos de 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53 menos de 55%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50 menos de 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Menos de 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5. RANGOS DE % DE LISTA PRECIO · CANAL DE VENTA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</a:rPr>
              <a:t>Canal de venta: Amas de casa tuvo la mayor caída del % aplicado al precio de lista general (71,7% → 72,2%)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Región Oriente · venta kg, venta bruta y los tres % aplicados al precio de lista con sus ajustes — mes cerrado vs en curso · Sep 2026 vs Oct al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9144000" cy="1938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Venta bruta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0B0B"/>
                          </a:solidFill>
                        </a:rPr>
                        <a:t>Canal de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10.830.564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6.197.505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$134.536.021.929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$74.802.533.240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$42.701.384.440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$22.074.137.728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7.848.682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4.465.131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$102.531.062.100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$59.162.367.292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$33.354.042.369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$18.475.068.936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</a:rPr>
                        <a:t>Modernos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1.514.869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881.653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$23.367.001.608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$13.639.970.241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$7.379.964.421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$4.160.126.295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</a:rPr>
                        <a:t>Amas de casa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1.042.501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584.795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$22.153.454.540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$12.428.307.816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$6.271.031.897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$3.449.927.915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</a:rPr>
                        <a:t>Sin Asignar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17.086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$181.512.872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566160"/>
          <a:ext cx="11277287" cy="19994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aplicado general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Ajuste general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aplicado ajuste precio mercado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Ajuste precio mercado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aplicado fecha corta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Ajuste de fecha corta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0B0B"/>
                          </a:solidFill>
                        </a:rPr>
                        <a:t>Canal de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68,3%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31,7%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29,5%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73,2%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26,8%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26,1%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96,6%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3,4%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67,5%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68,8%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32,5%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31,2%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76,5%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76,1%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23,5%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92,7%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</a:rPr>
                        <a:t>Modernos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68,4%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69,5%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31,6%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30,5%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69,4%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30,6%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29,6%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99,0%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99,1%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</a:rPr>
                        <a:t>Amas de casa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27,8%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8,2%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81,1%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80,4%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18,9%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19,6%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</a:rPr>
                        <a:t>Sin Asignar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5. RANGOS DE % DE LISTA PRECIO · CANAL DE VENTA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0B0B"/>
                </a:solidFill>
              </a:rPr>
              <a:t>Tradicional (Región Oriente): la venta con ajuste pasó del rango “Mas de 65 menos de 67%” al “Mas de 67 menos de 70%”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68,3% → 70,5% · ajuste de precio de mercado 73,2% → 73,9% · fecha corta 95,0% → 96,6%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15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87" y="1463040"/>
            <a:ext cx="931892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5. RANGOS DE % DE LISTA PRECIO · CANAL DE VENTA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Tradicional (Región Oriente): participación y ajuste en pesos en cada 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mes cerrado vs en curso · Sep 2026 vs Oct al 17 · rango de % aplicado al precio de lista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7287" cy="46040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bruta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Rango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100% O MAS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18,1%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97 menos de 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$23.460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$22.285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$18.945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$6.185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$4.515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$16.100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95 menos de 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$102.658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$137.043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$85.193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$37.387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$17.465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$99.656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93 menos de 95%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$228.740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$113.436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$186.602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$80.889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$42.138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$32.547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90 menos de 93%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$15.172.108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$1.624.154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$14.970.258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$1.522.879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$201.850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$101.275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87 menos de 90%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$31.229.985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$5.687.818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$28.806.712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$4.878.273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$2.423.273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$809.545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85 menos de 87%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$55.556.737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$25.788.332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$53.960.492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$24.524.496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$1.596.245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$1.263.836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83 menos de 85%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$16.761.171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$8.721.824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$14.554.393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$6.812.830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$2.206.778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$1.908.994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80 menos de 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$295.758.770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$184.092.389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$284.157.180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$178.239.579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$11.601.590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$5.852.810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77 menos de 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$165.252.212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$78.840.727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$140.690.054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$61.323.615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$24.562.158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$17.517.112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75 menos de 77%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$380.832.291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$350.021.888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$327.317.750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$307.718.154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$53.514.541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$42.303.734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73 menos de 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$290.829.997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$178.532.878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$210.961.815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$134.954.574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$79.868.182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$43.578.304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70 menos de 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13,5%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$2.256.304.148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$2.941.464.118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$2.056.537.379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$2.852.391.284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$199.766.769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$89.072.834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67 menos de 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17,1%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25,7%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$7.352.340.825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$7.125.199.520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$6.998.256.665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$6.928.602.866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$354.084.160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$196.596.654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65 menos de 67%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19,1%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$9.667.689.635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$4.158.144.636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$9.179.645.085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$3.948.463.195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$488.044.550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$209.681.441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63 menos de 65%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18,1%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16,0%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$8.776.064.379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$2.558.198.493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$8.253.255.318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$2.341.212.229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$522.809.061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$216.986.264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60 menos de 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13,5%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$6.951.371.011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$2.150.161.333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$5.978.382.713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$1.840.066.925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$972.988.298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$310.094.408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57 menos de 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$2.128.395.641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$633.515.866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$1.503.090.754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$376.618.815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$625.304.887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$256.897.051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55 menos de 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$660.826.328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$282.288.009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$211.717.883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$132.650.214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$449.108.445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$149.637.795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53 menos de 55%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$538.763.182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$153.505.893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$166.969.422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$65.487.094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$371.793.760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$88.018.799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50 menos de 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$1.002.793.506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$318.787.214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$269.295.895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$89.044.950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$733.497.611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$229.742.264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Menos de 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$2.106.302.421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$911.687.132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$322.495.692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$225.234.290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$1.783.806.729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$686.452.842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5. RANGOS DE % DE LISTA PRECIO · CANAL DE VENTA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0B0B"/>
                </a:solidFill>
              </a:rPr>
              <a:t>Institucional (Región Oriente): la venta con ajuste pasó del rango “Mas de 67 menos de 70%” al “Mas de 70 menos de 73%”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67,5% → 68,8% · ajuste de precio de mercado 76,5% → 76,1% · fecha corta 91,0% → 92,7%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17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87" y="1463040"/>
            <a:ext cx="931892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5. RANGOS DE % DE LISTA PRECIO · CANAL DE VENTA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Institucional (Región Oriente): participación y ajuste en pesos en cada 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mes cerrado vs en curso · Sep 2026 vs Oct al 17 · rango de % aplicado al precio de lista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7287" cy="46040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bruta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Rango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100% O MAS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97 menos de 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$4.271.452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$2.865.311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$4.087.133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$2.865.311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$184.319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95 menos de 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$1.794.221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$614.482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$1.794.221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$538.597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$75.885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93 menos de 95%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$1.569.909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$1.207.023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$1.569.909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$1.187.313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$19.710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90 menos de 93%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$37.906.830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$21.593.749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$37.664.892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$21.480.582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$241.938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$113.167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87 menos de 90%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$39.167.894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$17.827.261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$37.679.106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$15.704.991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$1.488.788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$2.122.270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85 menos de 87%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$119.058.206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$69.303.392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$110.308.948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$63.079.889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$8.749.258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$6.223.503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83 menos de 85%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$62.133.590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$44.805.759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$59.269.548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$42.652.802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$2.864.042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$2.152.957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80 menos de 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$136.945.186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$60.387.440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$99.183.383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$44.809.620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$37.761.803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$15.577.820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77 menos de 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$336.160.133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$206.940.948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$196.428.740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$128.180.356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$139.731.393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$78.760.592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75 menos de 77%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$321.018.294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$389.453.088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$194.243.152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$180.899.826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$126.775.142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$208.553.262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73 menos de 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$661.930.337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$316.219.579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$490.033.499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$157.875.036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$171.896.838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$158.344.543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70 menos de 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17,4%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27,9%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25,7%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$5.112.169.226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$4.757.450.051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$4.491.089.266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$4.415.022.680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$621.079.960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$342.427.371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67 menos de 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18,1%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16,2%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$5.874.242.160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$3.982.131.450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$5.208.408.525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$3.588.590.479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$665.833.635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$393.540.971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65 menos de 67%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13,3%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$4.664.531.088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$2.575.852.839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$3.540.716.872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$1.897.206.924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$1.123.814.216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$678.645.915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63 menos de 65%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$4.675.459.152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$2.019.634.265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$3.746.019.061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$1.580.891.165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$929.440.091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$438.743.100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60 menos de 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$4.735.357.810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$1.761.758.152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$3.219.334.983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$1.100.948.973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$1.516.022.827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$660.809.179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57 menos de 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$2.334.582.768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$537.888.219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$1.125.721.636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$295.244.555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$1.208.861.132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$242.643.664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55 menos de 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$1.345.521.588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$345.008.575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$471.425.730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$132.981.167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$874.095.858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$212.027.408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53 menos de 55%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$553.607.834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$292.521.373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$278.724.262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$169.814.004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$274.883.572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$122.707.369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50 menos de 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$921.775.766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$261.222.443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$604.638.313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$166.673.506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$317.137.453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$94.548.937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Menos de 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$1.383.605.932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$768.892.568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$155.459.435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$117.250.806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$1.228.146.497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$651.641.762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5. RANGOS DE % DE LISTA PRECIO · CANAL DE VENTA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0B0B"/>
                </a:solidFill>
              </a:rPr>
              <a:t>Modernos (Región Oriente): la venta con ajuste pasó del rango “Mas de 67 menos de 70%” al “Mas de 70 menos de 73%”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68,4% → 69,5% · ajuste de precio de mercado 69,4% → 70,4% · fecha corta 99,0% → 99,1%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19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87" y="1463040"/>
            <a:ext cx="931892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5. RANGOS DE % DE LISTA PRECIO · CANAL DE VENTA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Modernos (Región Oriente): participación y ajuste en pesos en cada 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mes cerrado vs en curso · Sep 2026 vs Oct al 17 · rango de % aplicado al precio de lista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7287" cy="46040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bruta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Rango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100% O MAS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97 menos de 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$9.344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$9.344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95 menos de 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$40.110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$144.840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$40.110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$144.840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93 menos de 95%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$914.314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$490.974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$909.464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$490.974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$4.850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90 menos de 93%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$1.383.176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$730.008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$1.293.285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$730.008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$89.891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87 menos de 90%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$5.471.943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$2.316.386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$5.471.943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$2.279.479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$36.907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85 menos de 87%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$20.537.012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$9.742.631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$20.446.210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$9.561.873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$90.802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$180.758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83 menos de 85%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$9.647.601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$10.418.544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$9.457.895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$10.342.991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$189.706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$75.553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80 menos de 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$47.402.660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$38.250.417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$45.880.678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$37.906.830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$1.521.982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$343.587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77 menos de 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$58.489.212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$32.829.459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$55.612.407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$29.542.351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$2.876.805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$3.287.108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75 menos de 77%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$105.580.281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$64.677.065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$99.703.464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$61.592.859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$5.876.817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$3.084.206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73 menos de 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$151.005.072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$90.405.116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$142.843.258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$86.380.456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$8.161.814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$4.024.660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70 menos de 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27,7%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34,5%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27,8%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34,4%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$1.909.764.630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$1.380.981.182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$1.894.852.403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$1.369.271.563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$14.912.227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$11.709.619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67 menos de 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28,0%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29,2%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28,5%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$2.094.663.627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$1.192.755.676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$2.080.232.130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$1.179.820.831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$14.431.497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$12.934.845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65 menos de 67%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$1.116.391.918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$507.152.510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$1.094.807.620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$495.583.116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$21.584.298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$11.569.394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63 menos de 65%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$997.754.164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$394.817.294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$971.612.958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$373.979.681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$26.141.206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$20.837.613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60 menos de 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$489.330.264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$302.013.438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$433.260.449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$281.899.710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$56.069.815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$20.113.728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57 menos de 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$123.093.868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$61.804.166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$100.323.248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$43.929.941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$22.770.620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$17.874.225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55 menos de 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$73.394.779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$11.633.997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$59.003.278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$3.533.897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$14.391.501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$8.100.100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53 menos de 55%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$31.879.704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$4.121.360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$20.799.680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$2.018.235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$11.080.024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$2.103.125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50 menos de 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$86.521.932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$29.862.359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$72.557.821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$23.203.421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$13.964.111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$6.658.938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Menos de 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$56.357.284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$24.969.529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$41.630.061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$21.032.874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$14.727.223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$3.936.655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5. RANGOS DE % DE LISTA PRECIO · CANAL DE VENTA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0B0B"/>
                </a:solidFill>
              </a:rPr>
              <a:t>Amas de casa (Región Oriente): la venta con ajuste pasó del rango “Mas de 70 menos de 73%” al “Mas de 73 menos de 75%”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71,7% → 72,2% · ajuste de precio de mercado 90,6% → 91,8% · fecha corta 81,1% → 80,4%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21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87" y="1463040"/>
            <a:ext cx="931892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5. RANGOS DE % DE LISTA PRECIO · CANAL DE VENTA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Amas de casa (Región Oriente): participación y ajuste en pesos en cada 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mes cerrado vs en curso · Sep 2026 vs Oct al 17 · rango de % aplicado al precio de lista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7287" cy="46040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bruta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Rango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100% O MAS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97 menos de 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$379.630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$173.257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$355.218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$117.698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$24.412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$55.559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95 menos de 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$2.261.630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$915.347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$2.158.103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$730.863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$103.527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$184.484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93 menos de 95%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$3.683.481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$2.087.364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$3.591.252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$1.953.652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$92.229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$133.712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90 menos de 93%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$7.535.496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$4.148.297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$7.160.640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$3.455.253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$374.856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$693.044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87 menos de 90%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$3.241.424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$2.401.236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$2.525.192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$2.218.234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$716.232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$183.002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85 menos de 87%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$57.152.029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$4.027.852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$36.621.574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$2.717.156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$20.530.455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$1.310.696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83 menos de 85%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$35.824.971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$1.507.948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$21.175.462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$489.440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$14.649.509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$1.018.508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80 menos de 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$113.272.939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$82.717.454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$66.052.601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$34.474.372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$47.220.338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$48.243.082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77 menos de 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$303.275.832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$227.731.999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$137.334.161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$76.349.093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$165.941.671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$151.382.906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75 menos de 77%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17,6%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18,0%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$799.187.353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$526.196.854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$330.120.603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$181.069.849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$469.066.750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$345.127.005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73 menos de 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23,4%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13,4%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24,4%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$723.954.107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$755.177.312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$252.047.440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$219.904.652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$471.906.667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$535.272.660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70 menos de 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$1.281.539.557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$545.336.918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$454.900.868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$193.703.285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$826.638.689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$351.633.633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67 menos de 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18,5%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$1.299.764.882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$287.470.500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$562.577.218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$93.235.426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$737.187.664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$194.235.074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65 menos de 67%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$321.529.091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$395.682.840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$92.729.518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$129.549.232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$228.799.573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$266.133.608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63 menos de 65%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$295.071.894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$349.623.090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$41.516.905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$55.009.136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$253.554.989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$294.613.954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60 menos de 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$679.516.444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$138.056.831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$41.362.709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$13.369.917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$638.153.735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$124.686.914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57 menos de 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$125.771.486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$46.569.237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$11.089.434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$2.924.407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$114.682.052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$43.644.830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55 menos de 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$74.572.395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$33.417.594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$4.112.888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$1.305.300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$70.459.507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$32.112.294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53 menos de 55%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$35.138.620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$18.385.567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$802.121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$382.984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$34.336.499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$18.002.583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50 menos de 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$106.053.324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$27.757.182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$7.675.504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$356.148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$98.377.820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$27.401.034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Menos de 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$1.741.072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$543.236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$199.546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$1.541.526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$543.236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6. RANGOS DE % DE LISTA PRECIO · GRUPO MATERIAL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7490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</a:rPr>
              <a:t>Grupo de material 6: procesados crudos mutiproteina tuvo la mayor caída del % aplicado al precio de lista general (59,6% → 37,2%)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Región Oriente · venta kg, venta bruta y los tres % aplicados al precio de lista con sus ajustes — mes cerrado vs en curso · Sep 2026 vs Oct al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9144000" cy="2487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Venta bruta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Grupo de material 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Pollo presa ref y cong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20.599.975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11.798.142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$267.461.955.779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$152.195.110.322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$85.558.021.303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$45.987.961.958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Res Ref y Cong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169.467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84.498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$6.475.268.208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$3.198.820.934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$1.755.511.817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$882.175.272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Procesados cocidos pollo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293.359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172.435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$5.289.567.272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$3.047.991.462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$1.305.599.498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$751.228.213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Procesados crudos pollo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114.045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57.377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$1.557.776.660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$780.213.882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$395.691.054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$178.402.459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procesados cocidos mutiproteina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33.122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21.570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$1.023.326.852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$648.231.895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$332.444.653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$185.942.014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Molida-Hamburguesa Res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22.200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9.069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$936.510.567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$413.654.741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$320.736.724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$131.026.552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procesados crudos mutiproteina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4.449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3.078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$95.095.375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$67.679.522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$38.418.078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$42.524.406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749040"/>
          <a:ext cx="11277287" cy="25176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general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Ajuste general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ajuste precio mercado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Ajuste precio mercado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fecha corta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Ajuste de fecha corta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Grupo de material 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Pollo presa ref y cong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68,0%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69,8%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32,0%</a:t>
                      </a:r>
                    </a:p>
                  </a:txBody>
                  <a:tcPr marL="36576" marR="36576" marT="9144" marB="9144" anchor="ctr">
                    <a:solidFill>
                      <a:srgbClr val="F8DE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30,2%</a:t>
                      </a:r>
                    </a:p>
                  </a:txBody>
                  <a:tcPr marL="36576" marR="36576" marT="9144" marB="9144" anchor="ctr">
                    <a:solidFill>
                      <a:srgbClr val="F9E2D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74,9%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75,4%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25,1%</a:t>
                      </a:r>
                    </a:p>
                  </a:txBody>
                  <a:tcPr marL="36576" marR="36576" marT="9144" marB="9144" anchor="ctr">
                    <a:solidFill>
                      <a:srgbClr val="E78D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24,6%</a:t>
                      </a:r>
                    </a:p>
                  </a:txBody>
                  <a:tcPr marL="36576" marR="36576" marT="9144" marB="9144" anchor="ctr">
                    <a:solidFill>
                      <a:srgbClr val="E7906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93,1%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94,4%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6,9%</a:t>
                      </a:r>
                    </a:p>
                  </a:txBody>
                  <a:tcPr marL="36576" marR="36576" marT="9144" marB="9144" anchor="ctr">
                    <a:solidFill>
                      <a:srgbClr val="FBEC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5,6%</a:t>
                      </a:r>
                    </a:p>
                  </a:txBody>
                  <a:tcPr marL="36576" marR="36576" marT="9144" marB="9144" anchor="ctr">
                    <a:solidFill>
                      <a:srgbClr val="FB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Res Ref y Cong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72,9%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27,1%</a:t>
                      </a:r>
                    </a:p>
                  </a:txBody>
                  <a:tcPr marL="36576" marR="36576" marT="9144" marB="9144" anchor="ctr">
                    <a:solidFill>
                      <a:srgbClr val="FAEA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27,6%</a:t>
                      </a:r>
                    </a:p>
                  </a:txBody>
                  <a:tcPr marL="36576" marR="36576" marT="9144" marB="9144" anchor="ctr">
                    <a:solidFill>
                      <a:srgbClr val="FAE9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84,4%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85,4%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15,6%</a:t>
                      </a:r>
                    </a:p>
                  </a:txBody>
                  <a:tcPr marL="36576" marR="36576" marT="9144" marB="9144" anchor="ctr">
                    <a:solidFill>
                      <a:srgbClr val="F2C1A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14,6%</a:t>
                      </a:r>
                    </a:p>
                  </a:txBody>
                  <a:tcPr marL="36576" marR="36576" marT="9144" marB="9144" anchor="ctr">
                    <a:solidFill>
                      <a:srgbClr val="F3C7B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88,5%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87,0%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11,5%</a:t>
                      </a:r>
                    </a:p>
                  </a:txBody>
                  <a:tcPr marL="36576" marR="36576" marT="9144" marB="9144" anchor="ctr">
                    <a:solidFill>
                      <a:srgbClr val="F9E3D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13,0%</a:t>
                      </a:r>
                    </a:p>
                  </a:txBody>
                  <a:tcPr marL="36576" marR="36576" marT="9144" marB="9144" anchor="ctr">
                    <a:solidFill>
                      <a:srgbClr val="F8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Procesados cocidos pollo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75,3%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75,4%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24,7%</a:t>
                      </a:r>
                    </a:p>
                  </a:txBody>
                  <a:tcPr marL="36576" marR="36576" marT="9144" marB="9144" anchor="ctr">
                    <a:solidFill>
                      <a:srgbClr val="FCF1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24,6%</a:t>
                      </a:r>
                    </a:p>
                  </a:txBody>
                  <a:tcPr marL="36576" marR="36576" marT="9144" marB="9144" anchor="ctr">
                    <a:solidFill>
                      <a:srgbClr val="FCF1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84,1%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83,2%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15,9%</a:t>
                      </a:r>
                    </a:p>
                  </a:txBody>
                  <a:tcPr marL="36576" marR="36576" marT="9144" marB="9144" anchor="ctr">
                    <a:solidFill>
                      <a:srgbClr val="F2C0A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16,8%</a:t>
                      </a:r>
                    </a:p>
                  </a:txBody>
                  <a:tcPr marL="36576" marR="36576" marT="9144" marB="9144" anchor="ctr">
                    <a:solidFill>
                      <a:srgbClr val="F0BBA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8,8%</a:t>
                      </a:r>
                    </a:p>
                  </a:txBody>
                  <a:tcPr marL="36576" marR="36576" marT="9144" marB="9144" anchor="ctr">
                    <a:solidFill>
                      <a:srgbClr val="FAE8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7,9%</a:t>
                      </a:r>
                    </a:p>
                  </a:txBody>
                  <a:tcPr marL="36576" marR="36576" marT="9144" marB="9144" anchor="ctr">
                    <a:solidFill>
                      <a:srgbClr val="FA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Procesados crudos pollo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74,6%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77,1%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25,4%</a:t>
                      </a:r>
                    </a:p>
                  </a:txBody>
                  <a:tcPr marL="36576" marR="36576" marT="9144" marB="9144" anchor="ctr">
                    <a:solidFill>
                      <a:srgbClr val="FBEF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22,9%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79,3%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21,1%</a:t>
                      </a:r>
                    </a:p>
                  </a:txBody>
                  <a:tcPr marL="36576" marR="36576" marT="9144" marB="9144" anchor="ctr">
                    <a:solidFill>
                      <a:srgbClr val="EBA37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20,7%</a:t>
                      </a:r>
                    </a:p>
                  </a:txBody>
                  <a:tcPr marL="36576" marR="36576" marT="9144" marB="9144" anchor="ctr">
                    <a:solidFill>
                      <a:srgbClr val="ECA58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95,7%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97,8%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4,3%</a:t>
                      </a:r>
                    </a:p>
                  </a:txBody>
                  <a:tcPr marL="36576" marR="36576" marT="9144" marB="9144" anchor="ctr">
                    <a:solidFill>
                      <a:srgbClr val="FC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2,2%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procesados cocidos mutiproteina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67,5%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32,5%</a:t>
                      </a:r>
                    </a:p>
                  </a:txBody>
                  <a:tcPr marL="36576" marR="36576" marT="9144" marB="9144" anchor="ctr">
                    <a:solidFill>
                      <a:srgbClr val="F7DC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28,7%</a:t>
                      </a:r>
                    </a:p>
                  </a:txBody>
                  <a:tcPr marL="36576" marR="36576" marT="9144" marB="9144" anchor="ctr">
                    <a:solidFill>
                      <a:srgbClr val="F9E6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7,9%</a:t>
                      </a:r>
                    </a:p>
                  </a:txBody>
                  <a:tcPr marL="36576" marR="36576" marT="9144" marB="9144" anchor="ctr">
                    <a:solidFill>
                      <a:srgbClr val="FBECE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8,4%</a:t>
                      </a:r>
                    </a:p>
                  </a:txBody>
                  <a:tcPr marL="36576" marR="36576" marT="9144" marB="9144" anchor="ctr">
                    <a:solidFill>
                      <a:srgbClr val="FAEA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75,4%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79,7%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24,6%</a:t>
                      </a:r>
                    </a:p>
                  </a:txBody>
                  <a:tcPr marL="36576" marR="36576" marT="9144" marB="9144" anchor="ctr">
                    <a:solidFill>
                      <a:srgbClr val="F3C8B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20,3%</a:t>
                      </a:r>
                    </a:p>
                  </a:txBody>
                  <a:tcPr marL="36576" marR="36576" marT="9144" marB="9144" anchor="ctr">
                    <a:solidFill>
                      <a:srgbClr val="F5D1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Molida-Hamburguesa Res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65,8%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34,2%</a:t>
                      </a:r>
                    </a:p>
                  </a:txBody>
                  <a:tcPr marL="36576" marR="36576" marT="9144" marB="9144" anchor="ctr">
                    <a:solidFill>
                      <a:srgbClr val="F6D8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31,7%</a:t>
                      </a:r>
                    </a:p>
                  </a:txBody>
                  <a:tcPr marL="36576" marR="36576" marT="9144" marB="9144" anchor="ctr">
                    <a:solidFill>
                      <a:srgbClr val="F8DFD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93,8%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6,2%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9,2%</a:t>
                      </a:r>
                    </a:p>
                  </a:txBody>
                  <a:tcPr marL="36576" marR="36576" marT="9144" marB="9144" anchor="ctr">
                    <a:solidFill>
                      <a:srgbClr val="F9E5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77,6%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28,1%</a:t>
                      </a:r>
                    </a:p>
                  </a:txBody>
                  <a:tcPr marL="36576" marR="36576" marT="9144" marB="9144" anchor="ctr">
                    <a:solidFill>
                      <a:srgbClr val="F2C1A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22,4%</a:t>
                      </a:r>
                    </a:p>
                  </a:txBody>
                  <a:tcPr marL="36576" marR="36576" marT="9144" marB="9144" anchor="ctr">
                    <a:solidFill>
                      <a:srgbClr val="F4CC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procesados crudos mutiproteina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59,6%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40,4%</a:t>
                      </a:r>
                    </a:p>
                  </a:txBody>
                  <a:tcPr marL="36576" marR="36576" marT="9144" marB="9144" anchor="ctr">
                    <a:solidFill>
                      <a:srgbClr val="F3C8B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62,8%</a:t>
                      </a:r>
                    </a:p>
                  </a:txBody>
                  <a:tcPr marL="36576" marR="36576" marT="9144" marB="9144" anchor="ctr">
                    <a:solidFill>
                      <a:srgbClr val="E78D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93,4%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6,6%</a:t>
                      </a:r>
                    </a:p>
                  </a:txBody>
                  <a:tcPr marL="36576" marR="36576" marT="9144" marB="9144" anchor="ctr">
                    <a:solidFill>
                      <a:srgbClr val="FC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9,1%</a:t>
                      </a:r>
                    </a:p>
                  </a:txBody>
                  <a:tcPr marL="36576" marR="36576" marT="9144" marB="9144" anchor="ctr">
                    <a:solidFill>
                      <a:srgbClr val="F9E5D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66,2%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46,3%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33,8%</a:t>
                      </a:r>
                    </a:p>
                  </a:txBody>
                  <a:tcPr marL="36576" marR="36576" marT="9144" marB="9144" anchor="ctr">
                    <a:solidFill>
                      <a:srgbClr val="EFB6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53,7%</a:t>
                      </a:r>
                    </a:p>
                  </a:txBody>
                  <a:tcPr marL="36576" marR="36576" marT="9144" marB="9144" anchor="ctr">
                    <a:solidFill>
                      <a:srgbClr val="E78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6. RANGOS DE % DE LISTA PRECIO · GRUPO MATERIAL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</a:rPr>
              <a:t>Pollo presa ref y cong (Región Oriente): la venta con ajuste sigue concentrada en “Mas de 67 menos de 70%”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68,0% → 69,8% · ajuste de precio de mercado 74,9% → 75,4% · fecha corta 93,1% → 94,4%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26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87" y="1463040"/>
            <a:ext cx="931892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6. RANGOS DE % DE LISTA PRECIO · GRUPO MATERIAL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Pollo presa ref y cong (Región Oriente): participación y ajuste en pesos en cada 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mes cerrado vs en curso · Sep 2026 vs Oct al 17 · rango de % aplicado al precio de lista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7287" cy="46040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bruta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Rango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100% O MAS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97 menos de 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$4.586.827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$3.006.333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$4.397.993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$2.990.233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$188.834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$16.100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95 menos de 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$3.932.780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$1.534.644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$3.915.315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$1.359.103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$17.465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$175.541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93 menos de 95%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$6.099.589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$3.644.770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$6.040.953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$3.604.440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$58.636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$40.330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90 menos de 93%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$46.763.723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$25.613.379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$46.222.349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$25.381.678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$541.374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$231.701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87 menos de 90%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$47.201.772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$24.135.155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$42.875.156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$21.191.819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$4.326.616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$2.943.336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85 menos de 87%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$181.077.797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$77.243.446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$150.975.937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$68.799.126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$30.101.860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$8.444.320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83 menos de 85%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$117.749.780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$64.411.695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$98.575.076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$59.558.806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$19.174.704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$4.852.889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80 menos de 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$283.359.344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$173.024.836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$190.652.081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$104.577.306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$92.707.263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$68.447.530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77 menos de 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$798.904.291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$518.306.638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$475.733.718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$269.503.199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$323.170.573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$248.803.439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75 menos de 77%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$1.299.116.530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$1.100.424.109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$657.122.326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$508.988.541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$641.994.204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$591.435.568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73 menos de 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$1.777.477.260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$1.311.388.808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$1.055.668.910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$579.039.038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$721.808.350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$732.349.770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70 menos de 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13,2%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18,5%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$10.152.892.693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$9.363.455.615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$8.522.974.667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$8.607.174.440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$1.629.918.026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$756.281.175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67 menos de 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19,4%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25,8%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17,1%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23,0%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$16.403.441.725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$12.417.751.940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$14.703.946.118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$11.677.090.686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$1.699.495.607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$740.661.254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65 menos de 67%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16,8%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$15.328.686.353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$7.502.074.701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$13.562.442.567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$6.381.615.786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$1.766.243.786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$1.120.458.915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63 menos de 65%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13,7%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$14.555.306.573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$5.202.964.247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$12.919.853.572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$4.292.740.897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$1.635.453.001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$910.223.350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60 menos de 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$12.393.561.710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$4.014.446.494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$9.474.260.001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$3.082.789.369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$2.919.301.709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$931.657.125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57 menos de 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$4.317.744.221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$1.088.624.391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$2.587.482.032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$664.330.736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$1.730.262.189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$424.293.655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55 menos de 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$1.870.316.070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$583.023.418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$684.889.965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$265.998.257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$1.185.426.105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$317.025.161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53 menos de 55%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$1.002.932.690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$409.396.428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$456.781.690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$235.664.291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$546.151.000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$173.732.137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50 menos de 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$1.589.055.117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$478.294.400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$841.324.738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$244.577.217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$747.730.379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$233.717.183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Menos de 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$3.337.114.404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$1.579.017.933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$506.576.228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$356.927.890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$2.830.538.176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$1.222.090.043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6. RANGOS DE % DE LISTA PRECIO · GRUPO MATERIAL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0B0B"/>
                </a:solidFill>
              </a:rPr>
              <a:t>Res Ref y Cong (Región Oriente): la venta con ajuste pasó del rango “Mas de 65 menos de 67%” al “Mas de 60 menos de 63%”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72,9% → 72,4% · ajuste de precio de mercado 84,4% → 85,4% · fecha corta 88,5% → 87,0%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28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87" y="1463040"/>
            <a:ext cx="931892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6. RANGOS DE % DE LISTA PRECIO · GRUPO MATERIAL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Res Ref y Cong (Región Oriente): participación y ajuste en pesos en cada 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mes cerrado vs en curso · Sep 2026 vs Oct al 17 · rango de % aplicado al precio de lista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29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7287" cy="46040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bruta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Rango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100% O MAS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28,2%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26,1%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37,6%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39,3%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97 menos de 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$80.550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$55.559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$56.138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$24.412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$55.559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95 menos de 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$209.912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$238.766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$107.205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$54.282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$102.707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$184.484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93 menos de 95%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$258.209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$179.677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$177.628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$45.965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$80.581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$133.712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90 menos de 93%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$1.262.208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$1.651.050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$905.829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$984.294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$356.379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$666.756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87 menos de 90%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$591.398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$3.745.813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$362.423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$3.567.740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$228.975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$178.073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85 menos de 87%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$1.092.392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$531.832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$717.533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$197.737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$374.859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$334.095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83 menos de 85%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$3.122.541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$562.465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$2.675.736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$339.664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$446.805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$222.801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80 menos de 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$8.167.226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$3.958.176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$6.770.972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$3.072.536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$1.396.254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$885.640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77 menos de 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$38.862.913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$18.582.476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$37.851.826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$17.793.399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$1.011.087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$789.077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75 menos de 77%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$19.256.555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$8.753.814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$16.504.320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$7.001.288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$2.752.235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$1.752.526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73 menos de 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$20.262.633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$8.473.607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$18.714.595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$6.731.486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$1.548.038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$1.742.121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70 menos de 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$40.605.838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$25.799.109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$36.924.121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$21.198.405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$3.681.717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$4.600.704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67 menos de 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$111.640.254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$82.150.345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$93.773.162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$76.780.333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$17.867.092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$5.370.012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65 menos de 67%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$318.915.170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$83.155.818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$298.860.564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$71.253.154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$20.054.606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$11.902.664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63 menos de 65%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$116.306.803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$79.326.533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$73.165.516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$47.006.798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$43.141.287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$32.319.735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60 menos de 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$242.797.880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$202.666.406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$147.222.143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$136.017.113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$95.575.737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$66.649.293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57 menos de 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$292.284.725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$147.333.665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$140.338.105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$50.669.515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$151.946.620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$96.664.150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55 menos de 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$152.452.599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$33.080.990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$56.997.983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$3.023.517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$95.454.616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$30.057.473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53 menos de 55%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$115.189.409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$30.751.759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$6.748.771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$523.028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$108.440.638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$30.228.731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50 menos de 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$169.342.283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$75.976.774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$61.423.770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$18.292.169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$107.918.513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$57.684.605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Menos de 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$102.602.517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$75.065.013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$10.456.547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$2.754.808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$92.145.970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$72.310.205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6. RANGOS DE % DE LISTA PRECIO · GRUPO MATERIAL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0B0B"/>
                </a:solidFill>
              </a:rPr>
              <a:t>Procesados cocidos pollo (Región Oriente): la venta con ajuste pasó del rango “Mas de 80 menos de 83%” al “Mas de 75 menos de 77%”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75,3% → 75,4% · ajuste de precio de mercado 84,1% → 83,2% · fecha corta 91,2% → 92,1%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30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87" y="1463040"/>
            <a:ext cx="931892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6. RANGOS DE % DE LISTA PRECIO · GRUPO MATERIAL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Procesados cocidos pollo (Región Oriente): participación y ajuste en pesos en cada 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mes cerrado vs en curso · Sep 2026 vs Oct al 17 · rango de % aplicado al precio de lista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31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7287" cy="46040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bruta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Rango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100% O MAS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97 menos de 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95 menos de 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$14.171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$16.204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$14.171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$16.204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93 menos de 95%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$28.955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$37.813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$28.955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$25.886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$11.927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90 menos de 93%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$133.668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$119.673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$132.449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$110.644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$9.029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87 menos de 90%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$29.567.551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$74.874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$29.551.458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$60.222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$16.093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$14.652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85 menos de 87%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$47.451.392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$11.359.782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$47.297.934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$11.280.860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$153.458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$78.922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83 menos de 85%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$1.739.191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$184.818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$1.532.704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$114.310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$206.487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$70.508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80 menos de 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17,4%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18,5%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19,1%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$186.784.302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$112.785.238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$184.890.181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$112.435.427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$1.894.121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$349.811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77 menos de 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$12.313.659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$5.144.774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$7.011.549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$4.572.332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$5.302.110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$572.442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75 menos de 77%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22,6%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16,0%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24,5%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$206.922.823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$171.624.208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$200.608.223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$170.275.722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$6.314.600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$1.348.486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73 menos de 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$11.507.792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$8.253.834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$7.695.379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$6.286.997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$3.812.413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$1.966.837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70 menos de 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16,7%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18,1%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16,7%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16,8%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$268.729.898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$164.476.417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$254.423.540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$153.639.000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$14.306.358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$10.837.417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67 menos de 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$68.594.707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$53.268.261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$27.906.165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$17.531.804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$40.688.542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$35.736.457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65 menos de 67%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$72.774.771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$34.708.280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$29.994.395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$11.835.082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$42.780.376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$22.873.198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63 menos de 65%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$51.904.907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$27.070.920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$12.377.922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$6.099.155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$39.526.985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$20.971.765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60 menos de 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$121.690.788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$82.304.754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$20.262.627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$11.772.247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$101.428.161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$70.532.507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57 menos de 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$43.503.047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$28.029.644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$5.431.777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$2.216.379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$38.071.270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$25.813.265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55 menos de 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$35.527.020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$18.818.519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$945.223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$581.704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$34.581.797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$18.236.815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53 menos de 55%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$24.656.976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$7.568.869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$3.262.794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$805.602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$21.394.182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$6.763.267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50 menos de 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$111.190.152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$21.911.608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$4.112.690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$145.284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$107.077.462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$21.766.324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Menos de 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$10.548.911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$3.466.491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$1.227.232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$1.933.965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$9.321.679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$1.532.526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6. RANGOS DE % DE LISTA PRECIO · GRUPO MATERIAL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</a:rPr>
              <a:t>Procesados crudos pollo (Región Oriente): la venta con ajuste sigue concentrada en “Mas de 80 menos de 83%”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74,6% → 77,1% · ajuste de precio de mercado 78,9% → 79,3% · fecha corta 95,7% → 97,8%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32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87" y="1463040"/>
            <a:ext cx="931892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6. RANGOS DE % DE LISTA PRECIO · GRUPO MATERIAL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Procesados crudos pollo (Región Oriente): participación y ajuste en pesos en cada 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mes cerrado vs en curso · Sep 2026 vs Oct al 17 · rango de % aplicado al precio de lista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33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7287" cy="46040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bruta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Rango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100% O MAS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97 menos de 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$6.029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$6.029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95 menos de 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$19.474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$11.002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$19.474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$11.002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93 menos de 95%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$30.907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$30.907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90 menos de 93%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$13.099.277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$648.116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$13.096.111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$648.116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$3.166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87 menos de 90%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$1.528.065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$31.177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$1.471.456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$31.177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$56.609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85 menos de 87%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13,7%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17,8%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$13.894.617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$16.042.333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$13.665.434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$16.029.751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$229.183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$12.582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83 menos de 85%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$1.149.915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$139.774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$1.077.556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$139.774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$72.359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80 menos de 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29,6%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33,2%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49,1%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$92.383.985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$63.149.576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$91.369.529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$62.957.177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$1.014.456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$192.399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77 menos de 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$7.028.365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$2.906.723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$6.632.055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$2.587.439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$396.310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$319.284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75 menos de 77%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17,5%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$47.812.041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$34.120.023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$46.909.833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$32.924.046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$902.208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$1.195.977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73 menos de 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$8.514.084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$5.298.668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$7.792.417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$4.292.799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$721.667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$1.005.869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70 menos de 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$65.580.097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$25.323.796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$63.006.630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$21.076.671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$2.573.467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$4.247.125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67 menos de 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$9.403.575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$10.205.413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$7.226.828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$6.967.162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$2.176.747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$3.238.251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65 menos de 67%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$6.128.753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$3.336.607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$4.148.716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$2.513.546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$1.980.037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$823.061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63 menos de 65%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$4.906.107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$4.324.172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$2.845.884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$3.574.863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$2.060.223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$749.309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60 menos de 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$24.771.943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$4.103.683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$20.939.611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$3.228.529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$3.832.332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$875.154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57 menos de 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$7.580.745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$1.222.430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$4.052.286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$942.306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$3.528.459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$280.124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55 menos de 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$2.577.103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$1.172.460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$781.327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$339.466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$1.795.776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$832.994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53 menos de 55%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$999.415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$89.142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$112.651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$28.060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$886.764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$61.082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50 menos de 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$47.272.818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$6.162.528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$43.365.501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$3.186.339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$3.907.317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$2.976.189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Menos de 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$41.037.272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$77.900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$498.227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$74.734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$40.539.045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$3.166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7. CANAL DE VENTA Y CANAL DE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0B0B"/>
                </a:solidFill>
              </a:rPr>
              <a:t>Tradicional: Mayoreo es el 99,7% de la venta kg; % aplicado al precio de lista general 70,5% en Mayoreo y 66,8% en Puntos Venta (Oct al 17)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Región Oriente · Canal de venta · Mayoreo + Puntos de Venta = Total (kg, venta y ajustes); los % y precios se recalculan · Sep 2026 vs Oct al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34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77289" cy="4870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44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Variación Oct al 17 vs 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Indicador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Mayoreo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Puntos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Mayoreo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Puntos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10.790.105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40.460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10.830.564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6.178.044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19.461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6.197.505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bruta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$133.796.652.298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$739.369.631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$134.536.021.929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$74.453.210.224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$349.323.016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$74.802.533.240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-44,4%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neta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$91.350.790.540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$483.846.949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$91.834.637.489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$52.494.907.826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$233.487.686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$52.728.395.512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-42,6%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$42.445.861.758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$255.522.682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$42.701.384.440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$21.958.302.398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$115.835.330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$22.074.137.728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de precio de mercado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$35.877.304.582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$146.790.444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$36.024.095.026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$19.467.753.857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$59.613.006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$19.527.366.863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-45,8%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$6.568.557.176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$108.732.238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$6.677.289.414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$2.490.548.541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$56.222.324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$2.546.770.865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-61,9%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Precio lista por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$12.400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$18.274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$12.422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$12.051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$17.950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$12.070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Precio neto por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$8.466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$11.959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$8.479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$8.497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$11.998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$8.508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+0,3%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general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65,4%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66,8%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+2,2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general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34,6%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29,5%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33,2%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29,5%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-2,2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ajuste de precio de mercado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73,2%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80,1%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73,2%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82,9%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+0,7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de precio de mercado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26,8%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19,9%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26,8%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26,1%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17,1%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26,1%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-0,7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fecha corta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95,1%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85,3%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96,7%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83,9%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96,6%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+1,6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de fecha corta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4,9%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14,7%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16,1%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-1,6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7. CANAL DE VENTA Y CANAL DE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0B0B"/>
                </a:solidFill>
              </a:rPr>
              <a:t>Institucional: Mayoreo es el 87,8% de la venta kg; % aplicado al precio de lista general 69,4% en Mayoreo y 66,0% en Puntos Venta (Oct al 17)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Región Oriente · Canal de venta · Mayoreo + Puntos de Venta = Total (kg, venta y ajustes); los % y precios se recalculan · Sep 2026 vs Oct al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35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77289" cy="4870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44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Variación Oct al 17 vs 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Indicador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Mayoreo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Puntos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Mayoreo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Puntos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6.912.608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936.074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7.848.682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3.918.493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546.637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4.465.131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-43,1%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bruta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$84.962.387.300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$17.568.674.800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$102.531.062.100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$48.920.038.257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$10.242.329.035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$59.162.367.292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-42,3%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neta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$57.814.774.579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$11.362.245.152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$69.177.019.731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$33.927.864.996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$6.759.433.360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$40.687.298.356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$27.147.612.721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$6.206.429.648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$33.354.042.369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$14.992.173.261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$3.482.895.675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$18.475.068.936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-44,6%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de precio de mercado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$21.219.721.210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$2.885.308.635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$24.105.029.845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$12.620.404.359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$1.544.985.192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$14.165.389.551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$5.927.891.511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$3.321.121.013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$9.249.012.524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$2.371.768.902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$1.937.910.483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$4.309.679.385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-53,4%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Precio lista por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$12.291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$18.768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$13.063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$12.484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$18.737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$13.250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+1,4%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Precio neto por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$8.364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$12.138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$8.814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$8.658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$12.365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$9.112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+3,4%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general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68,0%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64,7%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67,5%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69,4%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66,0%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68,8%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+1,3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general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35,3%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34,0%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-1,3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ajuste de precio de mercado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83,6%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76,5%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84,9%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76,1%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-0,4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de precio de mercado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23,5%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25,8%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15,1%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+0,4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fecha corta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93,0%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81,1%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95,2%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81,1%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92,7%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+1,7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de fecha corta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4,8%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-1,7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7. CANAL DE VENTA Y CANAL DE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0B0B"/>
                </a:solidFill>
              </a:rPr>
              <a:t>Modernos: Mayoreo es el 99,8% de la venta kg; % aplicado al precio de lista general 69,5% en Mayoreo y 69,8% en Puntos Venta (Oct al 17)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Región Oriente · Canal de venta · Mayoreo + Puntos de Venta = Total (kg, venta y ajustes); los % y precios se recalculan · Sep 2026 vs Oct al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36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77289" cy="4870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44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Variación Oct al 17 vs 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Indicador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Mayoreo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Puntos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Mayoreo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Puntos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1.510.439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4.429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1.514.869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879.542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2.110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881.653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bruta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$23.286.067.786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$80.933.822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$23.367.001.608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$13.601.144.139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$38.826.102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$13.639.970.241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neta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$15.932.097.084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$54.940.103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$15.987.037.187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$9.452.749.778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$27.094.168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$9.479.843.946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$7.353.970.702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$25.993.719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$7.379.964.421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$4.148.394.361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$11.731.934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$4.160.126.295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de precio de mercado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$7.142.282.586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$8.796.646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$7.151.079.232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$4.030.256.862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$2.998.412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$4.033.255.274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$211.688.116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$17.197.073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$228.885.189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$118.137.499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$8.733.522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$126.871.021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-44,6%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Precio lista por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$15.417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$18.272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$15.425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$15.464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$18.397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$15.471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+0,3%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Precio neto por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$10.548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$12.403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$10.553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$10.747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$12.838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$10.752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+1,9%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general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68,4%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67,9%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68,4%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69,5%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69,8%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69,5%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+1,1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general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-1,1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ajuste de precio de mercado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69,3%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89,1%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69,4%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92,3%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+1,0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de precio de mercado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29,6%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29,6%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-1,0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fecha corta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99,1%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78,8%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99,0%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99,1%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77,5%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99,1%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+0,0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de fecha corta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-0,0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7. CANAL DE VENTA Y CANAL DE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0B0B"/>
                </a:solidFill>
              </a:rPr>
              <a:t>Amas de casa: Puntos Venta es el 100,0% de la venta kg; % aplicado al precio de lista general 72,2% en Puntos Venta y 67,9% en Mayoreo (Oct al 17)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Región Oriente · Canal de venta · Mayoreo + Puntos de Venta = Total (kg, venta y ajustes); los % y precios se recalculan · Sep 2026 vs Oct al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37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77289" cy="4870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44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Variación Oct al 17 vs 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Indicador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Mayoreo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Puntos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Mayoreo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Puntos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1.042.373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1.042.501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584.775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584.795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bruta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$2.203.230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$22.151.251.310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$22.153.454.540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$285.902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$12.428.021.914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$12.428.307.816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neta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$1.488.924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$15.880.933.719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$15.882.422.643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$194.209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$8.978.185.692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$8.978.379.901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-43,5%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$714.306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$6.270.317.591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$6.271.031.897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$91.693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$3.449.836.222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$3.449.927.915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de precio de mercado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$692.469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$2.075.451.545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$2.076.144.014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$86.872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$1.013.229.225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$1.013.316.097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-51,2%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$21.837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$4.194.866.046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$4.194.887.883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$4.821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$2.436.606.997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$2.436.611.818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Precio lista por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$17.238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$21.251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$21.250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$14.745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$21.253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$21.252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+0,0%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Precio neto por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$11.650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$15.235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$15.235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$10.016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$15.353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$15.353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+0,8%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general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67,6%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67,9%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+0,5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general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27,8%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27,8%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-0,5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ajuste de precio de mercado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68,6%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69,6%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+1,2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de precio de mercado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-1,2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fecha corta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99,0%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81,1%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81,1%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80,4%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80,4%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-0,7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de fecha corta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19,6%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19,6%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+0,7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8. CONCENTRACIÓN DEL AJUSTE - DISTRIBUIDORAS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dirty="0">
                <a:solidFill>
                  <a:srgbClr val="0B0B0B"/>
                </a:solidFill>
              </a:rPr>
              <a:t>4 </a:t>
            </a:r>
            <a:r>
              <a:rPr sz="1600" b="1" dirty="0" err="1">
                <a:solidFill>
                  <a:srgbClr val="0B0B0B"/>
                </a:solidFill>
              </a:rPr>
              <a:t>distribuidoras</a:t>
            </a:r>
            <a:r>
              <a:rPr sz="1600" b="1" dirty="0">
                <a:solidFill>
                  <a:srgbClr val="0B0B0B"/>
                </a:solidFill>
              </a:rPr>
              <a:t> </a:t>
            </a:r>
            <a:r>
              <a:rPr sz="1600" b="1" dirty="0" err="1">
                <a:solidFill>
                  <a:srgbClr val="0B0B0B"/>
                </a:solidFill>
              </a:rPr>
              <a:t>concentran</a:t>
            </a:r>
            <a:r>
              <a:rPr sz="1600" b="1" dirty="0">
                <a:solidFill>
                  <a:srgbClr val="0B0B0B"/>
                </a:solidFill>
              </a:rPr>
              <a:t> la </a:t>
            </a:r>
            <a:r>
              <a:rPr sz="1600" b="1" dirty="0" err="1">
                <a:solidFill>
                  <a:srgbClr val="0B0B0B"/>
                </a:solidFill>
              </a:rPr>
              <a:t>mitad</a:t>
            </a:r>
            <a:r>
              <a:rPr sz="1600" b="1" dirty="0">
                <a:solidFill>
                  <a:srgbClr val="0B0B0B"/>
                </a:solidFill>
              </a:rPr>
              <a:t> del </a:t>
            </a:r>
            <a:r>
              <a:rPr sz="1600" b="1" dirty="0" err="1">
                <a:solidFill>
                  <a:srgbClr val="0B0B0B"/>
                </a:solidFill>
              </a:rPr>
              <a:t>ajuste</a:t>
            </a:r>
            <a:r>
              <a:rPr sz="1600" b="1" dirty="0">
                <a:solidFill>
                  <a:srgbClr val="0B0B0B"/>
                </a:solidFill>
              </a:rPr>
              <a:t> general — Siberia, Cundinamarca, </a:t>
            </a:r>
            <a:r>
              <a:rPr sz="1600" b="1" dirty="0" err="1">
                <a:solidFill>
                  <a:srgbClr val="0B0B0B"/>
                </a:solidFill>
              </a:rPr>
              <a:t>Sabaneta</a:t>
            </a:r>
            <a:r>
              <a:rPr sz="1600" b="1" dirty="0">
                <a:solidFill>
                  <a:srgbClr val="0B0B0B"/>
                </a:solidFill>
              </a:rPr>
              <a:t>, Girón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Región Oriente · ordenadas por ajuste general de Oct al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39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503998"/>
              </p:ext>
            </p:extLst>
          </p:nvPr>
        </p:nvGraphicFramePr>
        <p:xfrm>
          <a:off x="457200" y="1463040"/>
          <a:ext cx="11311128" cy="4352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80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acum.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Venta bruta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aplicado general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Ajuste general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aplicado ajuste precio mercado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Ajuste precio mercado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aplicado fecha corta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Ajuste de fecha corta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Distribuidora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SIBERIA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$9.061.584.576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18,8%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1.962.079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$29.159.917.397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67,4%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68,9%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31,1%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73,4%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26,6%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96,0%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95,5%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4,0%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4,5%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CUNDINAMARCA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$7.888.077.181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35,2%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1.877.862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$22.684.819.966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63,6%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65,2%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34,8%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74,5%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25,5%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89,8%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90,7%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10,2%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9,3%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SABANETA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$5.441.022.633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46,5%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1.209.686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$17.276.963.052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67,2%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68,5%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31,5%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71,4%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28,6%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94,3%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97,1%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5,7%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2,9%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0B0B0B"/>
                          </a:solidFill>
                        </a:rPr>
                        <a:t>GIRÓN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$3.352.985.749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53,5%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753.887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$11.073.201.003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68,1%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69,7%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30,3%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72,7%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27,3%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96,3%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97,0%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3,7%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3,0%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0B0B0B"/>
                          </a:solidFill>
                        </a:rPr>
                        <a:t>CUCUTA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$2.564.754.955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58,8%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549.376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$7.703.606.101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65,8%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66,7%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33,3%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67,7%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32,3%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99,0%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99,0%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0B0B0B"/>
                          </a:solidFill>
                        </a:rPr>
                        <a:t>CARTAGENA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$2.512.156.561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64,0%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548.247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$7.854.806.361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65,4%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68,0%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76,7%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23,3%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87,7%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0B0B0B"/>
                          </a:solidFill>
                        </a:rPr>
                        <a:t>VALLEDUPAR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$2.199.181.237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68,6%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535.254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$6.759.498.636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65,2%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67,5%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68,5%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98,7%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99,0%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0B0B0B"/>
                          </a:solidFill>
                        </a:rPr>
                        <a:t>SANTA MARTA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$2.056.358.992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428.832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$6.602.302.790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65,8%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74,3%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25,7%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94,6%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0B0B0B"/>
                          </a:solidFill>
                        </a:rPr>
                        <a:t>SOLEDAD NORTE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$1.851.593.062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76,7%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345.489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$5.585.316.680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66,8%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33,2%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79,0%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87,9%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0B0B0B"/>
                          </a:solidFill>
                        </a:rPr>
                        <a:t>SOLEDAD SUR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$1.834.335.095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351.812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$5.238.506.114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77,7%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22,3%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87,3%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19,8%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0B0B0B"/>
                          </a:solidFill>
                        </a:rPr>
                        <a:t>AGUACATALA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dirty="0">
                          <a:solidFill>
                            <a:srgbClr val="0B0B0B"/>
                          </a:solidFill>
                        </a:rPr>
                        <a:t>$1.790.403.968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dirty="0">
                          <a:solidFill>
                            <a:srgbClr val="0B0B0B"/>
                          </a:solidFill>
                        </a:rPr>
                        <a:t>84,2%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274.116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$5.525.458.614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68,2%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67,6%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86,2%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13,8%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dirty="0">
                          <a:solidFill>
                            <a:srgbClr val="0B0B0B"/>
                          </a:solidFill>
                        </a:rPr>
                        <a:t>82,4%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dirty="0">
                          <a:solidFill>
                            <a:srgbClr val="0B0B0B"/>
                          </a:solidFill>
                        </a:rPr>
                        <a:t>81,4%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dirty="0">
                          <a:solidFill>
                            <a:srgbClr val="0B0B0B"/>
                          </a:solidFill>
                        </a:rPr>
                        <a:t>17,6%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dirty="0">
                          <a:solidFill>
                            <a:srgbClr val="0B0B0B"/>
                          </a:solidFill>
                        </a:rPr>
                        <a:t>18,6%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TUNJA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$1.782.501.901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87,9%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dirty="0">
                          <a:solidFill>
                            <a:srgbClr val="0B0B0B"/>
                          </a:solidFill>
                        </a:rPr>
                        <a:t>428.874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dirty="0">
                          <a:solidFill>
                            <a:srgbClr val="0B0B0B"/>
                          </a:solidFill>
                        </a:rPr>
                        <a:t>$6.404.348.316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dirty="0">
                          <a:solidFill>
                            <a:srgbClr val="0B0B0B"/>
                          </a:solidFill>
                        </a:rPr>
                        <a:t>71,8%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dirty="0">
                          <a:solidFill>
                            <a:srgbClr val="0B0B0B"/>
                          </a:solidFill>
                        </a:rPr>
                        <a:t>72,2%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27,8%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dirty="0">
                          <a:solidFill>
                            <a:srgbClr val="0B0B0B"/>
                          </a:solidFill>
                        </a:rPr>
                        <a:t>85,5%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86,6%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dirty="0">
                          <a:solidFill>
                            <a:srgbClr val="0B0B0B"/>
                          </a:solidFill>
                        </a:rPr>
                        <a:t>13,4%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9. CONCENTRACIÓN DEL AJUSTE – CLIENTES MAYOREO – OCT AL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Clientes Mayoreo: 940 concentran la mitad del ajuste general de Oct al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Región Oriente · top 30 por ajuste general en Oct al 17 · 25.851 clientes con ajuste (28.930 en Sep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41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289" cy="48005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8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B0B0B"/>
                          </a:solidFill>
                        </a:rPr>
                        <a:t>Cliente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Canal de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Venta bruta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% Ajuste general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% Ajuste precio mercado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% Ajuste de fecha corta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1200184719 - JHON EDISON AGUILAR BARRA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83.531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$777.636.467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$322.209.286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41,4%</a:t>
                      </a:r>
                    </a:p>
                  </a:txBody>
                  <a:tcPr marL="36576" marR="36576" marT="9144" marB="9144" anchor="ctr">
                    <a:solidFill>
                      <a:srgbClr val="F7D8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$321.687.340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41,4%</a:t>
                      </a:r>
                    </a:p>
                  </a:txBody>
                  <a:tcPr marL="36576" marR="36576" marT="9144" marB="9144" anchor="ctr">
                    <a:solidFill>
                      <a:srgbClr val="EA9E7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$521.946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D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1200170262 - NICHO POLLO SAS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74.094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$803.987.755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$274.445.327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34,1%</a:t>
                      </a:r>
                    </a:p>
                  </a:txBody>
                  <a:tcPr marL="36576" marR="36576" marT="9144" marB="9144" anchor="ctr">
                    <a:solidFill>
                      <a:srgbClr val="FAE8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$263.273.787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32,7%</a:t>
                      </a:r>
                    </a:p>
                  </a:txBody>
                  <a:tcPr marL="36576" marR="36576" marT="9144" marB="9144" anchor="ctr">
                    <a:solidFill>
                      <a:srgbClr val="EEB09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$11.171.540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1,4%</a:t>
                      </a:r>
                    </a:p>
                  </a:txBody>
                  <a:tcPr marL="36576" marR="36576" marT="9144" marB="9144" anchor="ctr">
                    <a:solidFill>
                      <a:srgbClr val="FC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1200100560 - DISTRIBUIDORA DE POLLOS 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59.607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$883.264.292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$264.027.318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29,9%</a:t>
                      </a:r>
                    </a:p>
                  </a:txBody>
                  <a:tcPr marL="36576" marR="36576" marT="9144" marB="9144" anchor="ctr">
                    <a:solidFill>
                      <a:srgbClr val="FC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$261.543.228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29,6%</a:t>
                      </a:r>
                    </a:p>
                  </a:txBody>
                  <a:tcPr marL="36576" marR="36576" marT="9144" marB="9144" anchor="ctr">
                    <a:solidFill>
                      <a:srgbClr val="F0B79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$2.484.090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1200110538 - LECHONERIA TOLIMENSE Y 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63.704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$345.718.980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$262.789.464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76,0%</a:t>
                      </a:r>
                    </a:p>
                  </a:txBody>
                  <a:tcPr marL="36576" marR="36576" marT="9144" marB="9144" anchor="ctr">
                    <a:solidFill>
                      <a:srgbClr val="E78D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$11.561.742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3,3%</a:t>
                      </a:r>
                    </a:p>
                  </a:txBody>
                  <a:tcPr marL="36576" marR="36576" marT="9144" marB="9144" anchor="ctr">
                    <a:solidFill>
                      <a:srgbClr val="FBEE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$251.227.722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72,7%</a:t>
                      </a:r>
                    </a:p>
                  </a:txBody>
                  <a:tcPr marL="36576" marR="36576" marT="9144" marB="9144" anchor="ctr">
                    <a:solidFill>
                      <a:srgbClr val="E78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1200098081 - LISTO EL POLLO COLOMBIA 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37.122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$630.189.428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$193.025.965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30,6%</a:t>
                      </a:r>
                    </a:p>
                  </a:txBody>
                  <a:tcPr marL="36576" marR="36576" marT="9144" marB="9144" anchor="ctr">
                    <a:solidFill>
                      <a:srgbClr val="FBF0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$192.874.016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30,6%</a:t>
                      </a:r>
                    </a:p>
                  </a:txBody>
                  <a:tcPr marL="36576" marR="36576" marT="9144" marB="9144" anchor="ctr">
                    <a:solidFill>
                      <a:srgbClr val="EFB59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$151.949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1200133683 - CENTRAL DE CARNES DE USME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45.428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$576.563.267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$190.575.143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33,1%</a:t>
                      </a:r>
                    </a:p>
                  </a:txBody>
                  <a:tcPr marL="36576" marR="36576" marT="9144" marB="9144" anchor="ctr">
                    <a:solidFill>
                      <a:srgbClr val="FAEA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$175.547.535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30,4%</a:t>
                      </a:r>
                    </a:p>
                  </a:txBody>
                  <a:tcPr marL="36576" marR="36576" marT="9144" marB="9144" anchor="ctr">
                    <a:solidFill>
                      <a:srgbClr val="EFB5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$15.027.608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2,6%</a:t>
                      </a:r>
                    </a:p>
                  </a:txBody>
                  <a:tcPr marL="36576" marR="36576" marT="9144" marB="9144" anchor="ctr">
                    <a:solidFill>
                      <a:srgbClr val="FC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1200239656 - INDUSTRIA NACIONAL AVICOL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39.509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$338.212.696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$184.696.844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54,6%</a:t>
                      </a:r>
                    </a:p>
                  </a:txBody>
                  <a:tcPr marL="36576" marR="36576" marT="9144" marB="9144" anchor="ctr">
                    <a:solidFill>
                      <a:srgbClr val="F1BCA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$63.732.668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18,8%</a:t>
                      </a:r>
                    </a:p>
                  </a:txBody>
                  <a:tcPr marL="36576" marR="36576" marT="9144" marB="9144" anchor="ctr">
                    <a:solidFill>
                      <a:srgbClr val="F4CEB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$120.964.176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35,8%</a:t>
                      </a:r>
                    </a:p>
                  </a:txBody>
                  <a:tcPr marL="36576" marR="36576" marT="9144" marB="9144" anchor="ctr">
                    <a:solidFill>
                      <a:srgbClr val="F2C2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1200060066 - ROBINSON ARLEY CARDENAS 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42.819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$553.513.852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$170.162.240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30,7%</a:t>
                      </a:r>
                    </a:p>
                  </a:txBody>
                  <a:tcPr marL="36576" marR="36576" marT="9144" marB="9144" anchor="ctr">
                    <a:solidFill>
                      <a:srgbClr val="FBEF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$163.296.432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29,5%</a:t>
                      </a:r>
                    </a:p>
                  </a:txBody>
                  <a:tcPr marL="36576" marR="36576" marT="9144" marB="9144" anchor="ctr">
                    <a:solidFill>
                      <a:srgbClr val="F0B79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$6.865.808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C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1200241246 - SURTIPOLLOS EL CORRAL SAS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36.019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$463.538.657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$149.187.961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32,2%</a:t>
                      </a:r>
                    </a:p>
                  </a:txBody>
                  <a:tcPr marL="36576" marR="36576" marT="9144" marB="9144" anchor="ctr">
                    <a:solidFill>
                      <a:srgbClr val="FBECE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$146.337.862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31,6%</a:t>
                      </a:r>
                    </a:p>
                  </a:txBody>
                  <a:tcPr marL="36576" marR="36576" marT="9144" marB="9144" anchor="ctr">
                    <a:solidFill>
                      <a:srgbClr val="EFB39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$2.850.099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C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1200198324 - COMERCIALIZADORA R Y F 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33.873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$477.875.282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$146.679.183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30,7%</a:t>
                      </a:r>
                    </a:p>
                  </a:txBody>
                  <a:tcPr marL="36576" marR="36576" marT="9144" marB="9144" anchor="ctr">
                    <a:solidFill>
                      <a:srgbClr val="FBEF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$143.789.174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30,1%</a:t>
                      </a:r>
                    </a:p>
                  </a:txBody>
                  <a:tcPr marL="36576" marR="36576" marT="9144" marB="9144" anchor="ctr">
                    <a:solidFill>
                      <a:srgbClr val="EFB6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$2.890.009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C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1200153635 - RICARDO JOSE ANGEL LINARE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31.115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$392.022.798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$131.240.404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33,5%</a:t>
                      </a:r>
                    </a:p>
                  </a:txBody>
                  <a:tcPr marL="36576" marR="36576" marT="9144" marB="9144" anchor="ctr">
                    <a:solidFill>
                      <a:srgbClr val="FAE9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$131.240.404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33,5%</a:t>
                      </a:r>
                    </a:p>
                  </a:txBody>
                  <a:tcPr marL="36576" marR="36576" marT="9144" marB="9144" anchor="ctr">
                    <a:solidFill>
                      <a:srgbClr val="EEAF8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1200243021 - JOHN JAIRO SALCEDO FAGUA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27.056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$404.506.191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$124.692.167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30,8%</a:t>
                      </a:r>
                    </a:p>
                  </a:txBody>
                  <a:tcPr marL="36576" marR="36576" marT="9144" marB="9144" anchor="ctr">
                    <a:solidFill>
                      <a:srgbClr val="FBEF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$124.027.303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30,7%</a:t>
                      </a:r>
                    </a:p>
                  </a:txBody>
                  <a:tcPr marL="36576" marR="36576" marT="9144" marB="9144" anchor="ctr">
                    <a:solidFill>
                      <a:srgbClr val="EFB59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$664.864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D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1200215717 - POLLO MAC SAS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23.672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$300.854.664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$123.980.307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41,2%</a:t>
                      </a:r>
                    </a:p>
                  </a:txBody>
                  <a:tcPr marL="36576" marR="36576" marT="9144" marB="9144" anchor="ctr">
                    <a:solidFill>
                      <a:srgbClr val="F7D9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$54.321.747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18,1%</a:t>
                      </a:r>
                    </a:p>
                  </a:txBody>
                  <a:tcPr marL="36576" marR="36576" marT="9144" marB="9144" anchor="ctr">
                    <a:solidFill>
                      <a:srgbClr val="F5CFB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$69.658.560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23,2%</a:t>
                      </a:r>
                    </a:p>
                  </a:txBody>
                  <a:tcPr marL="36576" marR="36576" marT="9144" marB="9144" anchor="ctr">
                    <a:solidFill>
                      <a:srgbClr val="F6D4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1200152881 - MERCADO ZAPATOCA 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Modernos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26.722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$411.279.223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$121.578.453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29,6%</a:t>
                      </a:r>
                    </a:p>
                  </a:txBody>
                  <a:tcPr marL="36576" marR="36576" marT="9144" marB="9144" anchor="ctr">
                    <a:solidFill>
                      <a:srgbClr val="FC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$121.578.453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29,6%</a:t>
                      </a:r>
                    </a:p>
                  </a:txBody>
                  <a:tcPr marL="36576" marR="36576" marT="9144" marB="9144" anchor="ctr">
                    <a:solidFill>
                      <a:srgbClr val="F0B79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1200227394 - CARLOS JULIO LEON CRUZ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48.236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$210.290.048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$121.527.989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57,8%</a:t>
                      </a:r>
                    </a:p>
                  </a:txBody>
                  <a:tcPr marL="36576" marR="36576" marT="9144" marB="9144" anchor="ctr">
                    <a:solidFill>
                      <a:srgbClr val="EFB59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$121.527.989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57,8%</a:t>
                      </a:r>
                    </a:p>
                  </a:txBody>
                  <a:tcPr marL="36576" marR="36576" marT="9144" marB="9144" anchor="ctr">
                    <a:solidFill>
                      <a:srgbClr val="EBA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1200025357 - CARNES CASA BLANCA S.A.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31.868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$239.007.750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$117.902.522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49,3%</a:t>
                      </a:r>
                    </a:p>
                  </a:txBody>
                  <a:tcPr marL="36576" marR="36576" marT="9144" marB="9144" anchor="ctr">
                    <a:solidFill>
                      <a:srgbClr val="F3C7B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$117.902.522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49,3%</a:t>
                      </a:r>
                    </a:p>
                  </a:txBody>
                  <a:tcPr marL="36576" marR="36576" marT="9144" marB="9144" anchor="ctr">
                    <a:solidFill>
                      <a:srgbClr val="E78D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1200032809 - HUGO NELSON SIERRA MENESE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31.626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$340.347.892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$109.939.976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32,3%</a:t>
                      </a:r>
                    </a:p>
                  </a:txBody>
                  <a:tcPr marL="36576" marR="36576" marT="9144" marB="9144" anchor="ctr">
                    <a:solidFill>
                      <a:srgbClr val="FBEC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$109.939.976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32,3%</a:t>
                      </a:r>
                    </a:p>
                  </a:txBody>
                  <a:tcPr marL="36576" marR="36576" marT="9144" marB="9144" anchor="ctr">
                    <a:solidFill>
                      <a:srgbClr val="EEB19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1200032873 - CARNES FRIAS D COSTA SAS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64.345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$373.333.328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$104.033.246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27,9%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$104.033.246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27,9%</a:t>
                      </a:r>
                    </a:p>
                  </a:txBody>
                  <a:tcPr marL="36576" marR="36576" marT="9144" marB="9144" anchor="ctr">
                    <a:solidFill>
                      <a:srgbClr val="F0BB9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1200103965 - INVERSIONES J Y H SAS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21.866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$314.820.368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$99.643.834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31,7%</a:t>
                      </a:r>
                    </a:p>
                  </a:txBody>
                  <a:tcPr marL="36576" marR="36576" marT="9144" marB="9144" anchor="ctr">
                    <a:solidFill>
                      <a:srgbClr val="FBED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$98.828.017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31,4%</a:t>
                      </a:r>
                    </a:p>
                  </a:txBody>
                  <a:tcPr marL="36576" marR="36576" marT="9144" marB="9144" anchor="ctr">
                    <a:solidFill>
                      <a:srgbClr val="EFB39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$815.817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1200119549 - EL SABOR DEL TOLIMA SAS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25.777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$256.246.735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$95.927.335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37,4%</a:t>
                      </a:r>
                    </a:p>
                  </a:txBody>
                  <a:tcPr marL="36576" marR="36576" marT="9144" marB="9144" anchor="ctr">
                    <a:solidFill>
                      <a:srgbClr val="F8E1D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$71.254.683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27,8%</a:t>
                      </a:r>
                    </a:p>
                  </a:txBody>
                  <a:tcPr marL="36576" marR="36576" marT="9144" marB="9144" anchor="ctr">
                    <a:solidFill>
                      <a:srgbClr val="F0BB9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$24.672.652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9,6%</a:t>
                      </a:r>
                    </a:p>
                  </a:txBody>
                  <a:tcPr marL="36576" marR="36576" marT="9144" marB="9144" anchor="ctr">
                    <a:solidFill>
                      <a:srgbClr val="FAE8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1200234503 - HARRISON ANDRES FRANCO 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16.017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$207.846.786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$95.730.867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46,1%</a:t>
                      </a:r>
                    </a:p>
                  </a:txBody>
                  <a:tcPr marL="36576" marR="36576" marT="9144" marB="9144" anchor="ctr">
                    <a:solidFill>
                      <a:srgbClr val="F4CEB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$15.784.937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7,6%</a:t>
                      </a:r>
                    </a:p>
                  </a:txBody>
                  <a:tcPr marL="36576" marR="36576" marT="9144" marB="9144" anchor="ctr">
                    <a:solidFill>
                      <a:srgbClr val="F9E6D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$79.945.930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38,5%</a:t>
                      </a:r>
                    </a:p>
                  </a:txBody>
                  <a:tcPr marL="36576" marR="36576" marT="9144" marB="9144" anchor="ctr">
                    <a:solidFill>
                      <a:srgbClr val="F1BE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1200148416 - MERCADO ZAPATOCA 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Modernos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21.315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$316.193.605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$94.358.492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29,8%</a:t>
                      </a:r>
                    </a:p>
                  </a:txBody>
                  <a:tcPr marL="36576" marR="36576" marT="9144" marB="9144" anchor="ctr">
                    <a:solidFill>
                      <a:srgbClr val="FC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$94.358.492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29,8%</a:t>
                      </a:r>
                    </a:p>
                  </a:txBody>
                  <a:tcPr marL="36576" marR="36576" marT="9144" marB="9144" anchor="ctr">
                    <a:solidFill>
                      <a:srgbClr val="F0B6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1200206495 - ANGIE CAROLINA TORRES CAM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23.269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$278.459.578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$93.964.304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33,7%</a:t>
                      </a:r>
                    </a:p>
                  </a:txBody>
                  <a:tcPr marL="36576" marR="36576" marT="9144" marB="9144" anchor="ctr">
                    <a:solidFill>
                      <a:srgbClr val="FAE9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$83.282.384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29,9%</a:t>
                      </a:r>
                    </a:p>
                  </a:txBody>
                  <a:tcPr marL="36576" marR="36576" marT="9144" marB="9144" anchor="ctr">
                    <a:solidFill>
                      <a:srgbClr val="EFB6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$10.681.920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3,8%</a:t>
                      </a:r>
                    </a:p>
                  </a:txBody>
                  <a:tcPr marL="36576" marR="36576" marT="9144" marB="9144" anchor="ctr">
                    <a:solidFill>
                      <a:srgbClr val="FB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1200183246 - JOSE LEONARDO MOLINA GARC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18.268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$239.184.812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$93.792.991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39,2%</a:t>
                      </a:r>
                    </a:p>
                  </a:txBody>
                  <a:tcPr marL="36576" marR="36576" marT="9144" marB="9144" anchor="ctr">
                    <a:solidFill>
                      <a:srgbClr val="F8DD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$93.792.991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39,2%</a:t>
                      </a:r>
                    </a:p>
                  </a:txBody>
                  <a:tcPr marL="36576" marR="36576" marT="9144" marB="9144" anchor="ctr">
                    <a:solidFill>
                      <a:srgbClr val="EBA37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1200222267 - SUPER INSUMOS SAS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31.507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$140.419.092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$89.803.393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64,0%</a:t>
                      </a:r>
                    </a:p>
                  </a:txBody>
                  <a:tcPr marL="36576" marR="36576" marT="9144" marB="9144" anchor="ctr">
                    <a:solidFill>
                      <a:srgbClr val="ECA7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$89.803.393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64,0%</a:t>
                      </a:r>
                    </a:p>
                  </a:txBody>
                  <a:tcPr marL="36576" marR="36576" marT="9144" marB="9144" anchor="ctr">
                    <a:solidFill>
                      <a:srgbClr val="EA9A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1200221621 - POLLO PREMIUM DON PIPE 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11.937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$126.453.248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$87.465.858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69,2%</a:t>
                      </a:r>
                    </a:p>
                  </a:txBody>
                  <a:tcPr marL="36576" marR="36576" marT="9144" marB="9144" anchor="ctr">
                    <a:solidFill>
                      <a:srgbClr val="EA9C7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$4.024.316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3,2%</a:t>
                      </a:r>
                    </a:p>
                  </a:txBody>
                  <a:tcPr marL="36576" marR="36576" marT="9144" marB="9144" anchor="ctr">
                    <a:solidFill>
                      <a:srgbClr val="FBEF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$83.441.542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66,0%</a:t>
                      </a:r>
                    </a:p>
                  </a:txBody>
                  <a:tcPr marL="36576" marR="36576" marT="9144" marB="9144" anchor="ctr">
                    <a:solidFill>
                      <a:srgbClr val="E997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1200017105 - MERCADO ZAPATOCA 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Modernos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18.931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$293.834.934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$86.986.664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29,6%</a:t>
                      </a:r>
                    </a:p>
                  </a:txBody>
                  <a:tcPr marL="36576" marR="36576" marT="9144" marB="9144" anchor="ctr">
                    <a:solidFill>
                      <a:srgbClr val="FC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$86.986.664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29,6%</a:t>
                      </a:r>
                    </a:p>
                  </a:txBody>
                  <a:tcPr marL="36576" marR="36576" marT="9144" marB="9144" anchor="ctr">
                    <a:solidFill>
                      <a:srgbClr val="F0B79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1200042318 - MERCADO ZAPATOCA 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Modernos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18.847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$287.781.015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$85.836.184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29,8%</a:t>
                      </a:r>
                    </a:p>
                  </a:txBody>
                  <a:tcPr marL="36576" marR="36576" marT="9144" marB="9144" anchor="ctr">
                    <a:solidFill>
                      <a:srgbClr val="FC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$85.836.184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29,8%</a:t>
                      </a:r>
                    </a:p>
                  </a:txBody>
                  <a:tcPr marL="36576" marR="36576" marT="9144" marB="9144" anchor="ctr">
                    <a:solidFill>
                      <a:srgbClr val="F0B69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1200038472 - MERCADO ZAPATOCA 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Modernos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19.175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$286.127.519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$85.743.038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30,0%</a:t>
                      </a:r>
                    </a:p>
                  </a:txBody>
                  <a:tcPr marL="36576" marR="36576" marT="9144" marB="9144" anchor="ctr">
                    <a:solidFill>
                      <a:srgbClr val="FC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$85.743.038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30,0%</a:t>
                      </a:r>
                    </a:p>
                  </a:txBody>
                  <a:tcPr marL="36576" marR="36576" marT="9144" marB="9144" anchor="ctr">
                    <a:solidFill>
                      <a:srgbClr val="EFB6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1200017140 - MERCADO ZAPATOCA 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Modernos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18.434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$284.591.696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$84.345.226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29,6%</a:t>
                      </a:r>
                    </a:p>
                  </a:txBody>
                  <a:tcPr marL="36576" marR="36576" marT="9144" marB="9144" anchor="ctr">
                    <a:solidFill>
                      <a:srgbClr val="FC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$84.345.226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29,6%</a:t>
                      </a:r>
                    </a:p>
                  </a:txBody>
                  <a:tcPr marL="36576" marR="36576" marT="9144" marB="9144" anchor="ctr">
                    <a:solidFill>
                      <a:srgbClr val="F0B79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9. CONCENTRACIÓN DEL AJUSTE – CLIENTES PUNTOS DE VENTA – OCT AL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Clientes Puntos Venta: 10 concentran la mitad del ajuste general de Oct al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Región Oriente · top 30 por ajuste general en Oct al 17 · 5.990 clientes con ajuste (7.316 en Sep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42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289" cy="48005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8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B0B0B"/>
                          </a:solidFill>
                        </a:rPr>
                        <a:t>Cliente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Canal de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Venta bruta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% Ajuste general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% Ajuste precio mercado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% Ajuste de fecha corta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1300011545 - CLIENTE MOSTRADOR ESPECIA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Amas de casa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305.557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$6.413.222.976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$1.794.904.236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28,0%</a:t>
                      </a:r>
                    </a:p>
                  </a:txBody>
                  <a:tcPr marL="36576" marR="36576" marT="9144" marB="9144" anchor="ctr">
                    <a:solidFill>
                      <a:srgbClr val="FC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$547.909.390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8,5%</a:t>
                      </a:r>
                    </a:p>
                  </a:txBody>
                  <a:tcPr marL="36576" marR="36576" marT="9144" marB="9144" anchor="ctr">
                    <a:solidFill>
                      <a:srgbClr val="F8E1D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$1.246.994.846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19,4%</a:t>
                      </a:r>
                    </a:p>
                  </a:txBody>
                  <a:tcPr marL="36576" marR="36576" marT="9144" marB="9144" anchor="ctr">
                    <a:solidFill>
                      <a:srgbClr val="F3C9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1800000000 - CLIENTE ESPORADICO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Amas de casa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155.585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$3.382.534.026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$935.607.711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27,7%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$253.377.533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7,5%</a:t>
                      </a:r>
                    </a:p>
                  </a:txBody>
                  <a:tcPr marL="36576" marR="36576" marT="9144" marB="9144" anchor="ctr">
                    <a:solidFill>
                      <a:srgbClr val="F9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$682.230.178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20,2%</a:t>
                      </a:r>
                    </a:p>
                  </a:txBody>
                  <a:tcPr marL="36576" marR="36576" marT="9144" marB="9144" anchor="ctr">
                    <a:solidFill>
                      <a:srgbClr val="F3C7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1800000005 - CLIENTE ESPORADICO ESPECI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Amas de casa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86.131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$1.846.827.281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$528.153.841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28,6%</a:t>
                      </a:r>
                    </a:p>
                  </a:txBody>
                  <a:tcPr marL="36576" marR="36576" marT="9144" marB="9144" anchor="ctr">
                    <a:solidFill>
                      <a:srgbClr val="FBF0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$140.648.778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7,6%</a:t>
                      </a:r>
                    </a:p>
                  </a:txBody>
                  <a:tcPr marL="36576" marR="36576" marT="9144" marB="9144" anchor="ctr">
                    <a:solidFill>
                      <a:srgbClr val="F9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$387.505.063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21,0%</a:t>
                      </a:r>
                    </a:p>
                  </a:txBody>
                  <a:tcPr marL="36576" marR="36576" marT="9144" marB="9144" anchor="ctr">
                    <a:solidFill>
                      <a:srgbClr val="F3C5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1300000006 - CLIENTE MOSTRADOR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Amas de casa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14.635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$291.274.011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$83.640.938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28,7%</a:t>
                      </a:r>
                    </a:p>
                  </a:txBody>
                  <a:tcPr marL="36576" marR="36576" marT="9144" marB="9144" anchor="ctr">
                    <a:solidFill>
                      <a:srgbClr val="FBEF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$25.495.618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8,8%</a:t>
                      </a:r>
                    </a:p>
                  </a:txBody>
                  <a:tcPr marL="36576" marR="36576" marT="9144" marB="9144" anchor="ctr">
                    <a:solidFill>
                      <a:srgbClr val="F8E0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$58.145.320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20,0%</a:t>
                      </a:r>
                    </a:p>
                  </a:txBody>
                  <a:tcPr marL="36576" marR="36576" marT="9144" marB="9144" anchor="ctr">
                    <a:solidFill>
                      <a:srgbClr val="F3C8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1300000207 - RESTAURANTE MERCAGAN PARR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6.945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$165.733.255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$64.011.704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38,6%</a:t>
                      </a:r>
                    </a:p>
                  </a:txBody>
                  <a:tcPr marL="36576" marR="36576" marT="9144" marB="9144" anchor="ctr">
                    <a:solidFill>
                      <a:srgbClr val="EFB59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$64.011.704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38,6%</a:t>
                      </a:r>
                    </a:p>
                  </a:txBody>
                  <a:tcPr marL="36576" marR="36576" marT="9144" marB="9144" anchor="ctr">
                    <a:solidFill>
                      <a:srgbClr val="E9976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1300033832 - DISTRI WINGS S.A.S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4.760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$85.972.433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$33.718.244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39,2%</a:t>
                      </a:r>
                    </a:p>
                  </a:txBody>
                  <a:tcPr marL="36576" marR="36576" marT="9144" marB="9144" anchor="ctr">
                    <a:solidFill>
                      <a:srgbClr val="EEB19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$30.442.557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35,4%</a:t>
                      </a:r>
                    </a:p>
                  </a:txBody>
                  <a:tcPr marL="36576" marR="36576" marT="9144" marB="9144" anchor="ctr">
                    <a:solidFill>
                      <a:srgbClr val="EB9F7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$3.275.687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3,8%</a:t>
                      </a:r>
                    </a:p>
                  </a:txBody>
                  <a:tcPr marL="36576" marR="36576" marT="9144" marB="9144" anchor="ctr">
                    <a:solidFill>
                      <a:srgbClr val="FB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1300006952 - PIMIENTA CATERING Y EVENT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4.128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$104.254.862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$33.105.847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31,8%</a:t>
                      </a:r>
                    </a:p>
                  </a:txBody>
                  <a:tcPr marL="36576" marR="36576" marT="9144" marB="9144" anchor="ctr">
                    <a:solidFill>
                      <a:srgbClr val="F8DDD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$33.105.847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31,8%</a:t>
                      </a:r>
                    </a:p>
                  </a:txBody>
                  <a:tcPr marL="36576" marR="36576" marT="9144" marB="9144" anchor="ctr">
                    <a:solidFill>
                      <a:srgbClr val="ECA88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1300034545 - CANDIDA ROSA HURTADO DE M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4.883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$76.660.353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$29.299.586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38,2%</a:t>
                      </a:r>
                    </a:p>
                  </a:txBody>
                  <a:tcPr marL="36576" marR="36576" marT="9144" marB="9144" anchor="ctr">
                    <a:solidFill>
                      <a:srgbClr val="F0B7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$29.299.586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38,2%</a:t>
                      </a:r>
                    </a:p>
                  </a:txBody>
                  <a:tcPr marL="36576" marR="36576" marT="9144" marB="9144" anchor="ctr">
                    <a:solidFill>
                      <a:srgbClr val="E998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1300027097 - CAMILO ANDRES PAVA DIAZ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2.970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$63.266.325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$25.059.834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39,6%</a:t>
                      </a:r>
                    </a:p>
                  </a:txBody>
                  <a:tcPr marL="36576" marR="36576" marT="9144" marB="9144" anchor="ctr">
                    <a:solidFill>
                      <a:srgbClr val="EEAF8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$1.027.672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CF2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$24.032.162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38,0%</a:t>
                      </a:r>
                    </a:p>
                  </a:txBody>
                  <a:tcPr marL="36576" marR="36576" marT="9144" marB="9144" anchor="ctr">
                    <a:solidFill>
                      <a:srgbClr val="EA9E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1300028745 - ELIANA MUNERA GONZALEZ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3.555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$56.567.670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$18.406.270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32,5%</a:t>
                      </a:r>
                    </a:p>
                  </a:txBody>
                  <a:tcPr marL="36576" marR="36576" marT="9144" marB="9144" anchor="ctr">
                    <a:solidFill>
                      <a:srgbClr val="F7D9C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$2.377.598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4,2%</a:t>
                      </a:r>
                    </a:p>
                  </a:txBody>
                  <a:tcPr marL="36576" marR="36576" marT="9144" marB="9144" anchor="ctr">
                    <a:solidFill>
                      <a:srgbClr val="FAEB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$16.028.672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28,3%</a:t>
                      </a:r>
                    </a:p>
                  </a:txBody>
                  <a:tcPr marL="36576" marR="36576" marT="9144" marB="9144" anchor="ctr">
                    <a:solidFill>
                      <a:srgbClr val="EFB4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1300021751 - DIANA GABRIELA JARAMILLO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2.951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$44.896.173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$16.808.221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37,4%</a:t>
                      </a:r>
                    </a:p>
                  </a:txBody>
                  <a:tcPr marL="36576" marR="36576" marT="9144" marB="9144" anchor="ctr">
                    <a:solidFill>
                      <a:srgbClr val="F1BCA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$4.233.948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9,4%</a:t>
                      </a:r>
                    </a:p>
                  </a:txBody>
                  <a:tcPr marL="36576" marR="36576" marT="9144" marB="9144" anchor="ctr">
                    <a:solidFill>
                      <a:srgbClr val="F8DED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$12.574.273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28,0%</a:t>
                      </a:r>
                    </a:p>
                  </a:txBody>
                  <a:tcPr marL="36576" marR="36576" marT="9144" marB="9144" anchor="ctr">
                    <a:solidFill>
                      <a:srgbClr val="EFB5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1300034537 - ALEXANDRA MILENA BUSTOS 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2.677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$43.010.361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$16.770.065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39,0%</a:t>
                      </a:r>
                    </a:p>
                  </a:txBody>
                  <a:tcPr marL="36576" marR="36576" marT="9144" marB="9144" anchor="ctr">
                    <a:solidFill>
                      <a:srgbClr val="EFB39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$3.402.496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7,9%</a:t>
                      </a:r>
                    </a:p>
                  </a:txBody>
                  <a:tcPr marL="36576" marR="36576" marT="9144" marB="9144" anchor="ctr">
                    <a:solidFill>
                      <a:srgbClr val="F9E2D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$13.367.569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31,1%</a:t>
                      </a:r>
                    </a:p>
                  </a:txBody>
                  <a:tcPr marL="36576" marR="36576" marT="9144" marB="9144" anchor="ctr">
                    <a:solidFill>
                      <a:srgbClr val="EEAE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1300033711 - LA PROVINCIA DISTRIBUCION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1.921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$34.706.565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$15.290.952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44,1%</a:t>
                      </a:r>
                    </a:p>
                  </a:txBody>
                  <a:tcPr marL="36576" marR="36576" marT="9144" marB="9144" anchor="ctr">
                    <a:solidFill>
                      <a:srgbClr val="E9956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$15.290.952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44,1%</a:t>
                      </a:r>
                    </a:p>
                  </a:txBody>
                  <a:tcPr marL="36576" marR="36576" marT="9144" marB="9144" anchor="ctr">
                    <a:solidFill>
                      <a:srgbClr val="E890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1300033740 - NORMA CARDONA SALCEDO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1.936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$31.172.820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$14.133.755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45,3%</a:t>
                      </a:r>
                    </a:p>
                  </a:txBody>
                  <a:tcPr marL="36576" marR="36576" marT="9144" marB="9144" anchor="ctr">
                    <a:solidFill>
                      <a:srgbClr val="E78D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$14.133.755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45,3%</a:t>
                      </a:r>
                    </a:p>
                  </a:txBody>
                  <a:tcPr marL="36576" marR="36576" marT="9144" marB="9144" anchor="ctr">
                    <a:solidFill>
                      <a:srgbClr val="E78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1300014215 - ROBERT ALEXANDER ARISMEND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1.926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$31.006.990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$14.058.571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45,3%</a:t>
                      </a:r>
                    </a:p>
                  </a:txBody>
                  <a:tcPr marL="36576" marR="36576" marT="9144" marB="9144" anchor="ctr">
                    <a:solidFill>
                      <a:srgbClr val="E78D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$14.058.571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45,3%</a:t>
                      </a:r>
                    </a:p>
                  </a:txBody>
                  <a:tcPr marL="36576" marR="36576" marT="9144" marB="9144" anchor="ctr">
                    <a:solidFill>
                      <a:srgbClr val="E78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1300033271 - EDGAR BERNAL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1.652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$36.936.964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$13.886.041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37,6%</a:t>
                      </a:r>
                    </a:p>
                  </a:txBody>
                  <a:tcPr marL="36576" marR="36576" marT="9144" marB="9144" anchor="ctr">
                    <a:solidFill>
                      <a:srgbClr val="F0BBA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$13.886.041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37,6%</a:t>
                      </a:r>
                    </a:p>
                  </a:txBody>
                  <a:tcPr marL="36576" marR="36576" marT="9144" marB="9144" anchor="ctr">
                    <a:solidFill>
                      <a:srgbClr val="E9997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1300033725 - ANA MARIA ANDRADE PINZON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1.664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$26.795.230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$12.148.957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45,3%</a:t>
                      </a:r>
                    </a:p>
                  </a:txBody>
                  <a:tcPr marL="36576" marR="36576" marT="9144" marB="9144" anchor="ctr">
                    <a:solidFill>
                      <a:srgbClr val="E78D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$12.148.957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45,3%</a:t>
                      </a:r>
                    </a:p>
                  </a:txBody>
                  <a:tcPr marL="36576" marR="36576" marT="9144" marB="9144" anchor="ctr">
                    <a:solidFill>
                      <a:srgbClr val="E78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1300031981 - CARNES DANNY S.A.S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1.639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$30.176.104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$12.133.018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40,2%</a:t>
                      </a:r>
                    </a:p>
                  </a:txBody>
                  <a:tcPr marL="36576" marR="36576" marT="9144" marB="9144" anchor="ctr">
                    <a:solidFill>
                      <a:srgbClr val="EDA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$5.158.081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17,1%</a:t>
                      </a:r>
                    </a:p>
                  </a:txBody>
                  <a:tcPr marL="36576" marR="36576" marT="9144" marB="9144" anchor="ctr">
                    <a:solidFill>
                      <a:srgbClr val="F4CCB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$6.974.937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23,1%</a:t>
                      </a:r>
                    </a:p>
                  </a:txBody>
                  <a:tcPr marL="36576" marR="36576" marT="9144" marB="9144" anchor="ctr">
                    <a:solidFill>
                      <a:srgbClr val="F2C0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1300032488 - SOCIEDAD TRINIDAD TA RICO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1.566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$33.345.150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$12.017.593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36,0%</a:t>
                      </a:r>
                    </a:p>
                  </a:txBody>
                  <a:tcPr marL="36576" marR="36576" marT="9144" marB="9144" anchor="ctr">
                    <a:solidFill>
                      <a:srgbClr val="F2C4A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$12.017.593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36,0%</a:t>
                      </a:r>
                    </a:p>
                  </a:txBody>
                  <a:tcPr marL="36576" marR="36576" marT="9144" marB="9144" anchor="ctr">
                    <a:solidFill>
                      <a:srgbClr val="EA9D7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1300028150 - COLLINS VALENCIA DESARROL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1.535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$31.859.588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$11.761.009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36,9%</a:t>
                      </a:r>
                    </a:p>
                  </a:txBody>
                  <a:tcPr marL="36576" marR="36576" marT="9144" marB="9144" anchor="ctr">
                    <a:solidFill>
                      <a:srgbClr val="F1BFA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$81.483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DF5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$11.679.526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36,7%</a:t>
                      </a:r>
                    </a:p>
                  </a:txBody>
                  <a:tcPr marL="36576" marR="36576" marT="9144" marB="9144" anchor="ctr">
                    <a:solidFill>
                      <a:srgbClr val="EBA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1300027136 - LAURA JULIANA ROA MANTILL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1.698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$26.360.200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$11.206.220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42,5%</a:t>
                      </a:r>
                    </a:p>
                  </a:txBody>
                  <a:tcPr marL="36576" marR="36576" marT="9144" marB="9144" anchor="ctr">
                    <a:solidFill>
                      <a:srgbClr val="EA9E7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$11.206.220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42,5%</a:t>
                      </a:r>
                    </a:p>
                  </a:txBody>
                  <a:tcPr marL="36576" marR="36576" marT="9144" marB="9144" anchor="ctr">
                    <a:solidFill>
                      <a:srgbClr val="E78D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1300000539 - LUZ MARY BERMUDEZ DE PARR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2.007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$30.741.783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$11.110.014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36,1%</a:t>
                      </a:r>
                    </a:p>
                  </a:txBody>
                  <a:tcPr marL="36576" marR="36576" marT="9144" marB="9144" anchor="ctr">
                    <a:solidFill>
                      <a:srgbClr val="F2C4A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$5.183.599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16,9%</a:t>
                      </a:r>
                    </a:p>
                  </a:txBody>
                  <a:tcPr marL="36576" marR="36576" marT="9144" marB="9144" anchor="ctr">
                    <a:solidFill>
                      <a:srgbClr val="F4CCB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$5.926.415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19,3%</a:t>
                      </a:r>
                    </a:p>
                  </a:txBody>
                  <a:tcPr marL="36576" marR="36576" marT="9144" marB="9144" anchor="ctr">
                    <a:solidFill>
                      <a:srgbClr val="F3C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1300028566 - MARIA JOSE PARRILLA S.A.S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1.758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$37.924.289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$10.777.288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28,4%</a:t>
                      </a:r>
                    </a:p>
                  </a:txBody>
                  <a:tcPr marL="36576" marR="36576" marT="9144" marB="9144" anchor="ctr">
                    <a:solidFill>
                      <a:srgbClr val="FC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$309.988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C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$10.467.300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27,6%</a:t>
                      </a:r>
                    </a:p>
                  </a:txBody>
                  <a:tcPr marL="36576" marR="36576" marT="9144" marB="9144" anchor="ctr">
                    <a:solidFill>
                      <a:srgbClr val="EFB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1300025899 - LUMISALUD ALIMENTACION Y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1.774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$32.659.495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$10.726.751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32,8%</a:t>
                      </a:r>
                    </a:p>
                  </a:txBody>
                  <a:tcPr marL="36576" marR="36576" marT="9144" marB="9144" anchor="ctr">
                    <a:solidFill>
                      <a:srgbClr val="F6D7C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$10.726.751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32,8%</a:t>
                      </a:r>
                    </a:p>
                  </a:txBody>
                  <a:tcPr marL="36576" marR="36576" marT="9144" marB="9144" anchor="ctr">
                    <a:solidFill>
                      <a:srgbClr val="ECA58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1300009782 - WILLIAM ERNESTO QUESADA M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1.211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$27.129.760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$9.856.861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36,3%</a:t>
                      </a:r>
                    </a:p>
                  </a:txBody>
                  <a:tcPr marL="36576" marR="36576" marT="9144" marB="9144" anchor="ctr">
                    <a:solidFill>
                      <a:srgbClr val="F2C2A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$9.856.861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36,3%</a:t>
                      </a:r>
                    </a:p>
                  </a:txBody>
                  <a:tcPr marL="36576" marR="36576" marT="9144" marB="9144" anchor="ctr">
                    <a:solidFill>
                      <a:srgbClr val="EBA2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1300000563 - ORCAMAR S.A.S.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1.670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$28.094.557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$9.691.218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34,5%</a:t>
                      </a:r>
                    </a:p>
                  </a:txBody>
                  <a:tcPr marL="36576" marR="36576" marT="9144" marB="9144" anchor="ctr">
                    <a:solidFill>
                      <a:srgbClr val="F4CDB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$9.432.808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33,6%</a:t>
                      </a:r>
                    </a:p>
                  </a:txBody>
                  <a:tcPr marL="36576" marR="36576" marT="9144" marB="9144" anchor="ctr">
                    <a:solidFill>
                      <a:srgbClr val="ECA37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$258.410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C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1300033425 - FUNDACION MELANIE KLEIN F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1.606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$33.543.901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$9.600.611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28,6%</a:t>
                      </a:r>
                    </a:p>
                  </a:txBody>
                  <a:tcPr marL="36576" marR="36576" marT="9144" marB="9144" anchor="ctr">
                    <a:solidFill>
                      <a:srgbClr val="FBF0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$1.794.971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5,4%</a:t>
                      </a:r>
                    </a:p>
                  </a:txBody>
                  <a:tcPr marL="36576" marR="36576" marT="9144" marB="9144" anchor="ctr">
                    <a:solidFill>
                      <a:srgbClr val="FAE8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$7.805.640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23,3%</a:t>
                      </a:r>
                    </a:p>
                  </a:txBody>
                  <a:tcPr marL="36576" marR="36576" marT="9144" marB="9144" anchor="ctr">
                    <a:solidFill>
                      <a:srgbClr val="F2C0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1300000080 - JEAN CARLO RINCON GRANADO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1.203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$25.579.057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$9.567.198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37,4%</a:t>
                      </a:r>
                    </a:p>
                  </a:txBody>
                  <a:tcPr marL="36576" marR="36576" marT="9144" marB="9144" anchor="ctr">
                    <a:solidFill>
                      <a:srgbClr val="F1BCA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$9.544.858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37,3%</a:t>
                      </a:r>
                    </a:p>
                  </a:txBody>
                  <a:tcPr marL="36576" marR="36576" marT="9144" marB="9144" anchor="ctr">
                    <a:solidFill>
                      <a:srgbClr val="EA9A7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$22.340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D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1300006753 - ESAU MONSALVE CANO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1.813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$28.279.680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$9.561.784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33,8%</a:t>
                      </a:r>
                    </a:p>
                  </a:txBody>
                  <a:tcPr marL="36576" marR="36576" marT="9144" marB="9144" anchor="ctr">
                    <a:solidFill>
                      <a:srgbClr val="F5D1B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$9.561.784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33,8%</a:t>
                      </a:r>
                    </a:p>
                  </a:txBody>
                  <a:tcPr marL="36576" marR="36576" marT="9144" marB="9144" anchor="ctr">
                    <a:solidFill>
                      <a:srgbClr val="ECA8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1300031700 - PAPAYIMI S.A.S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1.711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$26.664.454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$9.432.790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35,4%</a:t>
                      </a:r>
                    </a:p>
                  </a:txBody>
                  <a:tcPr marL="36576" marR="36576" marT="9144" marB="9144" anchor="ctr">
                    <a:solidFill>
                      <a:srgbClr val="F3C8B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$3.811.385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14,3%</a:t>
                      </a:r>
                    </a:p>
                  </a:txBody>
                  <a:tcPr marL="36576" marR="36576" marT="9144" marB="9144" anchor="ctr">
                    <a:solidFill>
                      <a:srgbClr val="F5D2C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$5.621.405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21,1%</a:t>
                      </a:r>
                    </a:p>
                  </a:txBody>
                  <a:tcPr marL="36576" marR="36576" marT="9144" marB="9144" anchor="ctr">
                    <a:solidFill>
                      <a:srgbClr val="F3C5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13704</Words>
  <Application>Microsoft Office PowerPoint</Application>
  <PresentationFormat>Panorámica</PresentationFormat>
  <Paragraphs>5001</Paragraphs>
  <Slides>37</Slides>
  <Notes>0</Notes>
  <HiddenSlides>16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Diego Alejandro Figueredo Salamanca</cp:lastModifiedBy>
  <cp:revision>3</cp:revision>
  <dcterms:created xsi:type="dcterms:W3CDTF">2013-01-27T09:14:16Z</dcterms:created>
  <dcterms:modified xsi:type="dcterms:W3CDTF">2026-10-21T16:02:06Z</dcterms:modified>
  <cp:category/>
</cp:coreProperties>
</file>