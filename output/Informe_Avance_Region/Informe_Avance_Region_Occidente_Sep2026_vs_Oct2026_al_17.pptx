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0B0B"/>
                </a:solidFill>
              </a:rPr>
              <a:t>Diagnóstico de Ajustes y % Cumplimiento Aplicado a Lista de Precios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2514E"/>
                </a:solidFill>
              </a:rPr>
              <a:t>Septiembre 2026 (cerrado) vs octubre al 17 (en curso) · Región Occidente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</a:rPr>
              <a:t>Todos los canales · avance del mes · datos a 17/10/2026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C8B87"/>
                </a:solidFill>
              </a:rPr>
              <a:t>Sistemas de Información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2. PANORAMA SEP 2026 VS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La lista por kilo subió 3,4%, y el neto por kilo subió 1,5%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69,4% → 68,1% · ajuste de precio de mercado 76,6% → 75,9% · fecha corta 92,7% → 92,2%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463040"/>
          <a:ext cx="9418318" cy="4818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32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0B0B"/>
                          </a:solidFill>
                        </a:rPr>
                        <a:t>Variación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$174.683.089.878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$103.706.720.664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$121.145.496.878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$70.576.931.513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15.535.337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8.918.953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-42,6%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$11.244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$11.628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$7.798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$7.913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69,4%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68,1%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-1,3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31,9%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+1,3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$53.537.593.000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$33.129.789.151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-38,1%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76,6%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75,9%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-0,8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23,4%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24,1%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+0,8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$40.812.257.031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$25.016.249.727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-38,7%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92,7%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92,2%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-0,5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+0,5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$12.725.335.969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$8.113.539.424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</a:rPr>
                        <a:t>-36,2%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Venta kg por día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517.845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524.644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</a:rPr>
                        <a:t>Venta bruta por día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$5.822.769.663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$6.100.395.333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</a:rPr>
                        <a:t>+4,8%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2. PANORAMA SEP 2026 VS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83" y="914400"/>
            <a:ext cx="111255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3. RANGOS DE % APLICADO AL PRECIO DE 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Región Occidente: la venta con ajuste sigue concentrada en “Mas de 60 menos de 63%”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69,4% → 68,1% · ajuste de precio de mercado 76,6% → 75,9% · fecha corta 92,7% → 92,2%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3. RANGOS DE % APLICADO AL PRECIO DE 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Región Occidente: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$2.666.719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$3.704.933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$2.416.203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$3.329.982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$250.516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$374.951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$7.160.527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$6.689.262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$6.714.081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$6.665.731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$446.446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$23.531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$28.706.062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$13.055.369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$27.855.433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$12.287.507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$850.629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$767.862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$67.867.627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$49.414.318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$66.462.380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$48.459.786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$1.405.247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$954.532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$156.585.515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$106.852.981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$151.651.786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$102.871.774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$4.933.729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$3.981.207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$259.682.120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$176.304.947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$253.652.093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$170.764.781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$6.030.027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$5.540.166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$338.030.121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$205.772.561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$328.974.394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$198.490.366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$9.055.727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$7.282.195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$726.135.357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$379.948.314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$676.335.793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$347.672.664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$49.799.564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$32.275.650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$637.454.648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$403.692.952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$595.227.590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$372.125.671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$42.227.058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$31.567.281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$827.071.414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$416.341.639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$790.341.516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$391.835.175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$36.729.898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$24.506.464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$1.142.390.252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$534.847.307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$1.087.050.249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$503.402.980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$55.340.003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$31.444.327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$2.722.442.732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$1.553.840.891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$2.553.578.960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$1.443.011.332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$168.863.772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$110.829.559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$5.485.619.320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$2.956.532.539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$5.201.206.443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$2.767.128.475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$284.412.877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$189.404.064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$4.742.745.408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$2.681.001.001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$4.358.810.353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$2.327.178.030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$383.935.055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$353.822.971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$5.184.464.610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$2.785.751.221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$4.776.392.357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$2.507.913.830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$408.072.253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$277.837.391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$7.838.180.723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$4.785.288.481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$6.981.660.571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$4.064.137.468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$856.520.152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$721.151.013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$6.791.877.454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$5.068.088.776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$5.852.357.845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$4.470.249.815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$939.519.609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$597.838.961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$2.879.845.503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$1.861.060.564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$2.205.272.077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$1.312.940.435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$674.573.426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$548.120.129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$2.679.488.967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$2.371.529.119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$1.639.378.250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$1.552.569.597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$1.040.110.717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$818.959.522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$4.746.321.665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$2.795.825.840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$2.488.801.548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$1.777.067.435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$2.257.520.117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$1.018.758.405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$6.234.228.881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$3.958.369.391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$729.489.734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$620.280.548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$5.504.739.147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$3.338.088.843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Canal de distribución: Mayoreo tuvo la mayor caída del % aplicado al precio de lista general (69,3% → 67,9%)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venta kg, venta bruta y los tres % aplicados al precio de lista con sus ajustes — mes cerrado vs en curso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9144000" cy="1115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</a:rPr>
                        <a:t>Canal de distribución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15.233.744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8.737.329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$168.562.617.617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$100.066.344.841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$51.799.223.584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$32.091.383.398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301.593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181.625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$6.120.472.261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$3.640.375.823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$1.738.369.416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$1.038.405.753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43200"/>
          <a:ext cx="11277287" cy="1176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</a:rPr>
                        <a:t>Canal de distribución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Mayoreo (Región Occidente): la venta con ajuste sigue concentrada en “Mas de 60 menos de 63%”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69,3% → 67,9% · ajuste de precio de mercado 76,7% → 75,9% · fecha corta 92,6% → 92,0%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Mayoreo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$2.541.098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$3.667.151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$2.309.337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$3.301.701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$231.761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$365.450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$7.077.295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$6.130.746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$6.644.111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$6.119.320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$433.184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$11.426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$27.589.770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$12.946.648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$26.895.496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$12.207.697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$694.274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$738.951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$62.650.700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$44.948.518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$61.464.876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$44.237.618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$1.185.824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$710.900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$148.967.482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$104.438.378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$144.878.002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$100.814.417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$4.089.480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$3.623.961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$240.326.551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$163.413.772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$235.524.936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$159.449.665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$4.801.615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$3.964.107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$331.128.649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$199.530.443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$323.473.084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$192.844.602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$7.655.565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$6.685.841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$638.140.491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$327.803.465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$592.990.407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$297.371.382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$45.150.084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$30.432.083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$570.033.001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$372.779.798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$542.038.683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$344.524.265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$27.994.318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$28.255.533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$740.519.112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$369.592.116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$713.957.316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$352.596.771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$26.561.796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$16.995.345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$1.002.613.945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$466.522.488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$962.077.428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$441.970.108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$40.536.517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$24.552.380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$2.210.685.857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$1.258.085.042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$2.101.076.834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$1.184.360.543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$109.609.023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$73.724.499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$5.196.077.742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$2.760.420.132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$4.938.214.715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$2.591.739.237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$257.863.027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$168.680.895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$4.489.436.810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$2.500.196.341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$4.136.081.030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$2.166.840.812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$353.355.780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$333.355.529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$5.068.413.821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$2.761.853.001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$4.670.825.089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$2.489.641.335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$397.588.732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$272.211.666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$7.754.615.264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$4.717.693.936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$6.926.388.719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$4.012.068.968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$828.226.545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$705.624.968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$6.781.545.689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$5.056.011.291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$5.844.197.718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$4.459.656.050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$937.347.971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$596.355.241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$2.866.496.611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$1.854.553.243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$2.202.988.389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$1.312.089.802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$663.508.222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$542.463.441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$2.673.791.113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$2.369.747.953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$1.636.985.863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$1.550.798.205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$1.036.805.250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$818.949.748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$4.714.318.237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$2.766.802.800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$2.474.109.218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$1.750.653.919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$2.240.209.019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$1.016.148.881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$6.233.626.971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$3.958.369.391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$728.930.535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$620.280.548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$5.504.696.436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$3.338.088.843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Puntos Venta (Región Occidente): la venta con ajuste sigue concentrada en “Mas de 70 menos de 73%”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71,6% → 71,5% · ajuste de precio de mercado 75,5% → 75,1% · fecha corta 96,1% → 96,4%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328" y="1463040"/>
            <a:ext cx="931103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4. RANGOS DE % DE LISTA PRECIO ·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Puntos Venta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$125.621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$37.782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$106.866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$28.281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$558.516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$546.411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$12.105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$1.116.292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$108.721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$959.937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$79.810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$156.355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$28.911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$5.216.927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$4.465.800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$4.997.504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$4.222.168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$219.423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$243.632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$7.618.033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$2.414.603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$6.773.784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$2.057.357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$844.249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$357.246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$19.355.569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$12.891.175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$18.127.157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$11.315.116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$1.228.412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$1.576.059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$6.901.472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$6.242.118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$5.501.310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$5.645.764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$1.400.162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$596.354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$87.994.866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$52.144.849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$83.345.386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$50.301.282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$4.649.480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$1.843.567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$67.421.647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$30.913.154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$53.188.907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$27.601.406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$14.232.740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$3.311.748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$86.552.302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$46.749.523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$76.384.200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$39.238.404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$10.168.102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$7.511.119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$139.776.307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$68.324.819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$124.972.821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$61.432.872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$14.803.486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$6.891.947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$511.756.875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$295.755.849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$452.502.126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$258.650.789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$59.254.749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$37.105.060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$289.541.578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$196.112.407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$262.991.728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$175.389.238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$26.549.850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$20.723.169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$253.308.598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$180.804.660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$222.729.323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$160.337.218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$30.579.275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$20.467.442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$116.050.789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$23.898.220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$105.567.268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$18.272.495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$10.483.521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$5.625.725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$83.565.459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$67.594.545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$55.271.852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$52.068.500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$28.293.607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$15.526.045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$10.331.765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$12.077.485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$8.160.127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$10.593.765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$2.171.638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$1.483.720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$13.348.892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$6.507.321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$2.283.688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$850.633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$11.065.204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$5.656.688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$5.697.854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$1.781.166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$2.392.387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$1.771.392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$3.305.467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$32.003.428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$29.023.040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$14.692.330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$26.413.516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$17.311.098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$2.609.524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$601.910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$559.199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$42.711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Canal de venta: Tradicional tuvo la mayor caída del % aplicado al precio de lista general (70,4% → 68,4%)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venta kg, venta bruta y los tres % aplicados al precio de lista con sus ajustes — mes cerrado vs en curso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9144000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9.376.473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5.205.674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$94.413.943.111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$54.273.192.115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$27.987.993.121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$17.165.324.393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3.467.080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1.950.028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$42.415.951.206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$24.488.624.763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$13.648.231.984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$8.030.227.340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2.544.838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1.671.088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$34.716.418.116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$23.117.361.120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$11.013.540.332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$7.429.218.008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146.946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92.164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$3.136.777.445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$1.827.542.666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$887.827.563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</a:rPr>
                        <a:t>$505.019.410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91840"/>
          <a:ext cx="11277287" cy="1725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67,9%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32,1%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77,8%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22,2%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94,6%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Tradicional (Región Occidente): la venta con ajuste pasó del rango “Mas de 60 menos de 63%” al “Mas de 57 menos de 60%”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70,4% → 68,4% · ajuste de precio de mercado 77,6% → 75,6% · fecha corta 92,8% → 92,8%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Tradicional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$375.215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$290.601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$373.355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$290.601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$1.428.501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$902.608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$1.428.501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$902.608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$6.097.166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$1.949.885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$5.944.080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$1.914.742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$153.086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$35.143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$9.556.194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$3.326.366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$9.471.327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$3.106.621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$84.867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$219.745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$17.066.463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$10.677.067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$16.735.798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$10.677.067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$330.665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$23.090.447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$13.595.164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$20.828.145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$13.478.395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$2.262.302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$116.769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$34.102.688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$21.286.758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$33.531.933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$21.123.645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$570.755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$163.113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$65.530.653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$45.131.190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$63.504.057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$44.233.297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$2.026.596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$897.893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$95.664.966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$83.924.756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$93.787.944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$82.207.984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$1.877.022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$1.716.772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$174.271.985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$98.344.366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$171.018.289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$91.910.969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$3.253.696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$6.433.397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$283.997.560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$88.353.910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$271.152.581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$82.781.641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$12.844.979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$5.572.269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$894.530.249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$509.711.789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$868.035.082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$488.057.299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$26.495.167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$21.654.490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$2.431.431.415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$1.124.598.788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$2.341.507.868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$1.048.886.841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$89.923.547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$75.711.947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$2.293.270.874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$1.329.807.145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$2.198.396.578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$1.102.847.339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$94.874.296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$226.959.806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$2.411.879.744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$1.288.610.828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$2.328.190.528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$1.203.177.991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$83.689.216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$85.432.837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$4.723.760.538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$2.501.754.882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$4.360.837.835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$2.173.156.818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$362.922.703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$328.598.064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$4.450.711.891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$3.306.068.847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$3.923.196.753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$2.972.767.746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$527.515.138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$333.301.101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$1.612.988.534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$1.157.218.209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$1.277.109.722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$928.410.182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$335.878.812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$228.808.027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$1.750.946.180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$1.654.612.756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$979.154.907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$1.146.130.053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$771.791.273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$508.482.703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$3.285.973.506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$1.695.603.191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$1.600.631.607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$1.282.880.392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$1.685.341.899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$412.722.799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$3.399.966.661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$2.220.681.436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$602.833.885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$538.734.717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$2.797.132.776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$1.681.946.719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Institucional (Región Occidente): la venta con ajuste sigue concentrada en “Mas de 67 menos de 70%”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67,8% → 67,2% · ajuste de precio de mercado 74,3% → 75,5% · fecha corta 93,6% → 91,7%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Institucional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$893.012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$1.189.546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$663.111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$814.595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$229.901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$374.951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$1.994.326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$344.902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$1.864.210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$333.476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$130.116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$11.426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$11.574.421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$1.644.342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$11.385.037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$1.532.800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$189.384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$111.542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$17.882.312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$8.431.754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$17.812.696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$8.171.645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$69.616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$260.109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$32.094.465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$12.710.051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$31.212.225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$12.438.775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$882.240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$271.276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$89.333.035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$57.969.090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$87.902.366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$55.589.643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$1.430.669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$2.379.447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$71.360.596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$48.721.992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$69.721.933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$48.187.335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$1.638.663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$534.657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$161.519.485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$98.836.109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$156.083.064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$96.219.820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$5.436.421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$2.616.289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$148.997.168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$86.341.327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$146.915.307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$84.216.013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$2.081.861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$2.125.314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$170.915.218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$111.075.371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$167.198.006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$107.410.178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$3.717.212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$3.665.193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$144.883.265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$87.099.097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$141.952.887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$84.422.857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$2.930.378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$2.676.240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$499.697.548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$275.973.887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$487.578.901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$267.244.027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$12.118.647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$8.729.860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$1.645.748.722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$940.471.208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$1.626.427.958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$925.724.521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$19.320.764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$14.746.687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$1.224.883.624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$607.986.259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$1.153.709.844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$579.087.697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$71.173.780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$28.898.562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$1.534.497.529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$566.046.658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$1.502.442.550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$519.673.355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$32.054.979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$46.373.303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$1.561.758.480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$1.093.022.341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$1.465.928.337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$993.894.965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$95.830.143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$99.127.376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$1.537.248.563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$1.168.746.786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$1.427.604.136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$1.046.444.027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$109.644.427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$122.302.759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$933.937.882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$457.677.101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$832.323.841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$296.728.180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$101.614.041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$160.948.921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$746.991.036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$528.945.948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$627.593.520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$364.381.439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$119.397.516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$164.564.509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$1.107.625.876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$762.554.198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$840.346.453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$452.778.328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$267.279.423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$309.775.870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$1.988.769.956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$1.107.812.473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$108.145.442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$49.098.875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$1.880.624.514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$1.058.713.598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Modernos (Región Occidente): la venta con ajuste pasó del rango “Mas de 67 menos de 70%” al “Mas de 60 menos de 63%”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68,3% → 67,9% · ajuste de precio de mercado 77,0% → 76,8% · fecha corta 91,3% → 91,1%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Modernos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$1.289.519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$2.197.832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$1.289.519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$2.197.832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$3.654.468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$4.885.991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$3.351.400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$4.885.991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$303.068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$9.922.972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$9.381.339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$9.568.975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$8.789.073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$353.997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$592.266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$39.290.882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$37.405.796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$38.243.914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$36.948.065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$1.046.968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$457.731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$105.654.287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$82.917.113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$102.165.285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$79.293.152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$3.489.002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$3.623.961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$145.690.536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$103.513.278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$143.437.061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$100.482.512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$2.253.475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$3.030.766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$231.273.461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$132.653.431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$224.548.315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$126.430.982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$6.725.146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$6.222.449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$488.686.002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$230.070.719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$447.032.555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$201.496.721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$41.653.447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$28.573.998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$361.011.258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$221.883.116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$335.833.071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$197.307.359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$25.178.187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$24.575.757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$426.199.940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$180.039.326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$405.102.943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$170.849.428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$21.096.997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$9.189.898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$594.574.662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$306.997.529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$569.147.248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$289.921.231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$25.427.414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$17.076.298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$959.429.115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$543.056.967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$882.627.715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$497.483.989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$76.801.400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$45.572.978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$1.256.093.243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$789.628.847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$1.103.171.966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$708.470.347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$152.921.277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$81.158.500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$1.168.553.757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$716.799.757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$961.086.309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$624.234.504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$207.467.448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$92.565.253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$1.208.317.232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$918.689.021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$925.483.821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$778.052.206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$282.833.411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$140.636.815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$1.519.524.131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$1.164.765.433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$1.138.644.624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$883.736.867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$380.879.507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$281.028.566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$801.305.577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$591.411.470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$501.099.375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$450.595.007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$300.206.202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$140.816.463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$329.101.626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$242.447.996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$95.648.613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$87.666.020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$233.453.013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$154.781.976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$179.660.920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$187.815.096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$32.441.113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$41.912.560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$147.219.807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$145.902.536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$337.236.296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$332.406.475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$47.702.670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$38.756.263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$289.533.626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$293.650.212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$845.420.229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$629.875.482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$18.481.083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$32.446.956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$826.939.146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$597.428.526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Amas de casa (Región Occidente): la venta con ajuste sigue concentrada en “Mas de 70 menos de 73%”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71,7% → 72,4% · ajuste de precio de mercado 77,2% → 77,8% · fecha corta 94,5% → 94,6%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5. RANGOS DE % DE LISTA PRECIO · CANAL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Amas de casa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$108.973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$26.954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$26.954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$18.755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$555.761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$543.656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$12.105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$1.111.503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$79.803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$957.341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$50.892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$154.162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$28.911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$1.138.239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$250.402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$934.443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$233.455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$203.796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$16.947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$1.770.300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$548.750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$1.538.478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$462.780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$231.822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$1.568.102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$1.227.415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$1.484.521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$1.214.231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$83.581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$13.184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$1.293.376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$3.110.380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$1.172.213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$2.748.404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$121.163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$361.976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$10.399.217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$5.910.296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$9.716.117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$5.722.826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$683.100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$187.470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$31.781.256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$11.543.753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$18.691.268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$8.394.315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$13.089.988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$3.149.438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$55.684.271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$26.882.576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$47.022.278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$21.664.600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$8.661.993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$5.217.976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$118.934.765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$52.396.771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$104.797.533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$46.277.251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$14.137.232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$6.119.520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$368.785.820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$225.098.248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$315.337.262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$190.226.017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$53.448.558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$34.872.231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$152.345.940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$101.833.696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$130.098.651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$84.046.766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$22.247.289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$17.786.930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$56.037.153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$26.407.840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$45.617.622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$21.008.490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$10.419.531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$5.399.350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$29.770.105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$12.404.714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$20.275.458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$7.010.278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$9.494.647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$5.394.436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$33.137.574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$25.745.825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$16.249.775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$13.348.818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$16.887.799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$12.397.007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$2.611.423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$1.861.673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$457.581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$443.035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$2.153.842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$1.418.638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$3.817.461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$3.717.258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$189.901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$136.053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$3.627.560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$3.581.205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$1.890.831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$155.319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$188.710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$145.545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$1.702.121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$15.485.987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$5.261.976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$120.818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$2.652.452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$15.365.169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$2.609.524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$72.035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$29.324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$42.711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Grupo de material 6: procesados crudos mutiproteina tuvo la mayor caída del % aplicado al precio de lista general (70,7% → 66,2%)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venta kg, venta bruta y los tres % aplicados al precio de lista con sus ajustes — mes cerrado vs en curso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914400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Grupo de material 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Pollo presa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15.414.707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8.842.313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$172.178.179.911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$101.761.993.097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$52.015.174.941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$32.093.942.586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Res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36.741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26.772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$2.092.022.617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$1.525.556.776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$916.616.256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$690.664.363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47.952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29.530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$1.019.796.698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$638.044.706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$300.986.100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$193.207.727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23.216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14.598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$357.594.571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$219.233.415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$113.917.264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$74.174.043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7.323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3.915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$271.800.209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$146.126.787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$89.697.792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$45.161.718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Molida-Hamburguesa Res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5.290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1.753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$230.245.850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$79.279.925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$100.372.294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$31.972.007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$2.831.809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$1.974.450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$828.353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$666.707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49040"/>
          <a:ext cx="11277287" cy="2517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94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Grupo de material 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Pollo presa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69,8%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30,2%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31,5%</a:t>
                      </a:r>
                    </a:p>
                  </a:txBody>
                  <a:tcPr marL="36576" marR="36576" marT="9144" marB="9144" anchor="ctr">
                    <a:solidFill>
                      <a:srgbClr val="FAE7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23,4%</a:t>
                      </a:r>
                    </a:p>
                  </a:txBody>
                  <a:tcPr marL="36576" marR="36576" marT="9144" marB="9144" anchor="ctr">
                    <a:solidFill>
                      <a:srgbClr val="ECA4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24,3%</a:t>
                      </a:r>
                    </a:p>
                  </a:txBody>
                  <a:tcPr marL="36576" marR="36576" marT="9144" marB="9144" anchor="ctr">
                    <a:solidFill>
                      <a:srgbClr val="EBA17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6,8%</a:t>
                      </a:r>
                    </a:p>
                  </a:txBody>
                  <a:tcPr marL="36576" marR="36576" marT="9144" marB="9144" anchor="ctr">
                    <a:solidFill>
                      <a:srgbClr val="F9E5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7,3%</a:t>
                      </a:r>
                    </a:p>
                  </a:txBody>
                  <a:tcPr marL="36576" marR="36576" marT="9144" marB="9144" anchor="ctr">
                    <a:solidFill>
                      <a:srgbClr val="F9E4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Res Ref y Cong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43,8%</a:t>
                      </a:r>
                    </a:p>
                  </a:txBody>
                  <a:tcPr marL="36576" marR="36576" marT="9144" marB="9144" anchor="ctr">
                    <a:solidFill>
                      <a:srgbClr val="E9976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45,3%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39,5%</a:t>
                      </a:r>
                    </a:p>
                  </a:txBody>
                  <a:tcPr marL="36576" marR="36576" marT="9144" marB="9144" anchor="ctr">
                    <a:solidFill>
                      <a:srgbClr val="E995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42,7%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29,5%</a:t>
                      </a:r>
                    </a:p>
                  </a:txBody>
                  <a:tcPr marL="36576" marR="36576" marT="9144" marB="9144" anchor="ctr">
                    <a:solidFill>
                      <a:srgbClr val="FC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30,3%</a:t>
                      </a:r>
                    </a:p>
                  </a:txBody>
                  <a:tcPr marL="36576" marR="36576" marT="9144" marB="9144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27,1%</a:t>
                      </a:r>
                    </a:p>
                  </a:txBody>
                  <a:tcPr marL="36576" marR="36576" marT="9144" marB="9144" anchor="ctr">
                    <a:solidFill>
                      <a:srgbClr val="E996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26,6%</a:t>
                      </a:r>
                    </a:p>
                  </a:txBody>
                  <a:tcPr marL="36576" marR="36576" marT="9144" marB="9144" anchor="ctr">
                    <a:solidFill>
                      <a:srgbClr val="E9986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B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BE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pollo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31,9%</a:t>
                      </a:r>
                    </a:p>
                  </a:txBody>
                  <a:tcPr marL="36576" marR="36576" marT="9144" marB="9144" anchor="ctr">
                    <a:solidFill>
                      <a:srgbClr val="F9E5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F6D8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26,1%</a:t>
                      </a:r>
                    </a:p>
                  </a:txBody>
                  <a:tcPr marL="36576" marR="36576" marT="9144" marB="9144" anchor="ctr">
                    <a:solidFill>
                      <a:srgbClr val="E9997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27,1%</a:t>
                      </a:r>
                    </a:p>
                  </a:txBody>
                  <a:tcPr marL="36576" marR="36576" marT="9144" marB="9144" anchor="ctr">
                    <a:solidFill>
                      <a:srgbClr val="E995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AE8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9E5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cocidos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33,0%</a:t>
                      </a:r>
                    </a:p>
                  </a:txBody>
                  <a:tcPr marL="36576" marR="36576" marT="9144" marB="9144" anchor="ctr">
                    <a:solidFill>
                      <a:srgbClr val="F8DD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30,9%</a:t>
                      </a:r>
                    </a:p>
                  </a:txBody>
                  <a:tcPr marL="36576" marR="36576" marT="9144" marB="9144" anchor="ctr">
                    <a:solidFill>
                      <a:srgbClr val="FAEB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26,4%</a:t>
                      </a:r>
                    </a:p>
                  </a:txBody>
                  <a:tcPr marL="36576" marR="36576" marT="9144" marB="9144" anchor="ctr">
                    <a:solidFill>
                      <a:srgbClr val="E998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22,6%</a:t>
                      </a:r>
                    </a:p>
                  </a:txBody>
                  <a:tcPr marL="36576" marR="36576" marT="9144" marB="9144" anchor="ctr">
                    <a:solidFill>
                      <a:srgbClr val="ECA78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9E6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8,3%</a:t>
                      </a:r>
                    </a:p>
                  </a:txBody>
                  <a:tcPr marL="36576" marR="36576" marT="9144" marB="9144" anchor="ctr">
                    <a:solidFill>
                      <a:srgbClr val="F8E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Molida-Hamburguesa Res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43,6%</a:t>
                      </a:r>
                    </a:p>
                  </a:txBody>
                  <a:tcPr marL="36576" marR="36576" marT="9144" marB="9144" anchor="ctr">
                    <a:solidFill>
                      <a:srgbClr val="E998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40,3%</a:t>
                      </a:r>
                    </a:p>
                  </a:txBody>
                  <a:tcPr marL="36576" marR="36576" marT="9144" marB="9144" anchor="ctr">
                    <a:solidFill>
                      <a:srgbClr val="EEAD8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19,5%</a:t>
                      </a:r>
                    </a:p>
                  </a:txBody>
                  <a:tcPr marL="36576" marR="36576" marT="9144" marB="9144" anchor="ctr">
                    <a:solidFill>
                      <a:srgbClr val="EFB39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22,2%</a:t>
                      </a:r>
                    </a:p>
                  </a:txBody>
                  <a:tcPr marL="36576" marR="36576" marT="9144" marB="9144" anchor="ctr">
                    <a:solidFill>
                      <a:srgbClr val="EDA9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24,1%</a:t>
                      </a:r>
                    </a:p>
                  </a:txBody>
                  <a:tcPr marL="36576" marR="36576" marT="9144" marB="9144" anchor="ctr">
                    <a:solidFill>
                      <a:srgbClr val="F0BB9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18,1%</a:t>
                      </a:r>
                    </a:p>
                  </a:txBody>
                  <a:tcPr marL="36576" marR="36576" marT="9144" marB="9144" anchor="ctr">
                    <a:solidFill>
                      <a:srgbClr val="F3C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procesados crudos mutiproteina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29,3%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F7D8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29,3%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27,2%</a:t>
                      </a:r>
                    </a:p>
                  </a:txBody>
                  <a:tcPr marL="36576" marR="36576" marT="9144" marB="9144" anchor="ctr">
                    <a:solidFill>
                      <a:srgbClr val="E995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9E5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Pollo presa ref y cong (Región Occidente): la venta con ajuste pasó del rango “Mas de 60 menos de 63%” al “Mas de 57 menos de 60%”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69,8% → 68,5% · ajuste de precio de mercado 76,6% → 75,7% · fecha corta 93,2% → 92,7%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Pollo presa ref y cong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$2.649.022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$3.704.933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$2.416.203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$3.329.982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$232.819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$374.951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$7.147.265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$6.689.262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$6.714.081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$6.665.731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$433.184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$23.531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$28.642.283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$13.017.194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$27.825.081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$12.266.224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$817.202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$750.970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$67.798.079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$49.333.896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$66.392.832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$48.379.364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$1.405.247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$954.532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$156.224.991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$106.774.954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$151.365.174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$102.812.372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$4.859.817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$3.962.582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$255.215.439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$170.171.861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$249.200.221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$164.631.695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$6.015.218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$5.540.166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$334.741.996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$203.252.388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$325.852.971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$196.034.926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$8.889.025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$7.217.462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$706.116.778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$368.835.286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$656.729.101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$336.559.636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$49.387.677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$32.275.650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$632.360.217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$401.500.258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$590.198.840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$370.081.564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$42.161.377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$31.418.694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$741.269.839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$371.708.872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$704.751.172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$347.541.267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$36.518.667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$24.167.605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$1.130.184.845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$528.599.483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$1.075.322.432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$497.224.455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$54.862.413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$31.375.028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$2.616.829.763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$1.502.687.921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$2.453.680.922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$1.392.774.092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$163.148.841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$109.913.829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$5.445.271.716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$2.935.108.019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$5.163.762.250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$2.748.118.215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$281.509.466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$186.989.804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$4.596.400.935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$2.595.404.454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$4.225.369.253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$2.246.623.007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$371.031.682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$348.781.447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$5.107.993.347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$2.732.269.429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$4.745.374.256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$2.486.747.893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$362.619.091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$245.521.536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$7.660.591.198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$4.658.469.783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$6.884.901.006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$4.016.821.230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$775.690.192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$641.648.553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$6.700.039.574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$5.029.761.913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$5.845.181.762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$4.464.863.763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$854.857.812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$564.898.150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$2.676.736.190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$1.743.772.272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$2.190.960.205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$1.310.621.020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$485.775.985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$433.151.252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$2.559.078.679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$2.265.208.654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$1.638.894.710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$1.546.654.078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$920.183.969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$718.554.576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$4.432.710.439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$2.563.150.759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$2.464.412.702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$1.761.611.148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$1.968.297.737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$801.539.611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$6.118.893.322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$3.828.644.250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$726.441.728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$619.532.300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$5.392.451.594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$3.209.111.950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Res Ref y Cong (Región Occidente): la venta con ajuste sigue concentrada en “Mas de 50 menos de 53%”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56,2% → 54,7% · ajuste de precio de mercado 95,7% → 97,4% · fecha corta 60,5% → 57,3%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Res Ref y Cong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$17.697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$17.697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$13.262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$63.779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$30.352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$21.283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$33.427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$16.892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$23.556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$23.556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$77.683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$18.625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$9.519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$68.164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$18.625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$37.994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$37.994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$157.752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$138.669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$48.119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$19.083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$30.345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$634.605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$252.870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$549.935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$252.870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$84.670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$624.108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$193.636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$564.326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$45.049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$59.782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$148.587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$1.310.414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$900.691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$1.218.528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$591.526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$91.886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$309.165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$1.652.595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$581.563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$1.565.789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$581.563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$86.806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$11.718.317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$2.624.153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$11.324.871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$2.299.405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$393.446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$324.748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$3.247.020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$1.232.676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$2.617.999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$573.682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$629.021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$658.994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$10.437.796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$5.685.716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$3.573.605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$5.192.905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$6.864.191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$492.811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$51.060.661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$33.325.254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$14.231.314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$6.848.739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$36.829.347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$26.476.515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$91.051.206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$71.412.248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$37.836.758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$13.675.943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$53.214.448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$57.736.305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$87.184.814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$34.074.834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$4.748.986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$3.032.245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$82.435.828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$31.042.589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17,7%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$188.508.362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$110.405.894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$11.678.037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$999.851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$176.830.325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$109.406.043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$118.062.484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$104.890.899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$4.598.923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$118.062.484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$100.291.976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$239.686.125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$195.861.448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$1.091.613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$239.686.125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$194.769.835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$110.707.996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$129.025.667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$73.807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$110.707.996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$128.951.860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Procesados cocidos pollo (Región Occidente): la venta con ajuste sigue concentrada en “Mas de 75 menos de 77%”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70,5% → 69,7% · ajuste de precio de mercado 72,9% → 73,4% · fecha corta 97,6% → 96,3%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87" y="1463040"/>
            <a:ext cx="931892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Procesados cocidos pollo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$21.188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$21.188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$232.071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$226.323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$5.748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$3.681.970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$3.595.625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$3.667.161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$3.595.625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$14.809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$3.078.571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$1.405.591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$2.930.952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$1.390.464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$147.619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$4.367.383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$4.914.538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$4.359.719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$4.914.538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$1.301.088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$1.040.178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$1.295.189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$1.040.178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$5.899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$70.023.353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$37.381.590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$70.023.353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$37.371.576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$10.014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$7.714.563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$4.085.737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$7.512.800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$4.050.736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$201.763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$35.001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$59.839.963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$31.593.901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$57.686.751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$31.204.339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$2.153.212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$389.562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$29.354.469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$14.391.009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$27.990.255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$13.226.942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$1.364.214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$1.164.067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$77.244.252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$46.172.597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$73.770.363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$43.878.079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$3.473.889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$2.294.518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$18.509.076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$14.347.696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$12.161.850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$9.668.892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$6.347.226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$4.678.804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$19.855.274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$26.075.369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$11.747.903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$17.518.690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$8.107.371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$8.556.679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$1.341.045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$1.399.893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$307.481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$629.859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$1.033.564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$770.034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$1.899.415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$1.945.465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$1.094.984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$807.054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$804.431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$1.138.411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$110.927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$68.422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$78.153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$35.858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$751.045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$4.462.943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$68.245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$132.869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$682.800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$4.330.074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$1.660.447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$325.220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$1.660.447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$307.235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$17.985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</a:rPr>
              <a:t>Procesados crudos pollo (Región Occidente): la venta con ajuste sigue concentrada en “Mas de 65 menos de 67%”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% aplicado al precio de lista general 68,1% → 66,2% · ajuste de precio de mercado 73,9% → 72,9% · fecha corta 94,3% → 93,3%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328" y="1463040"/>
            <a:ext cx="931103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6. RANGOS DE % DE LISTA PRECIO · GRUPO MATERIAL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Procesados crudos pollo (Región Occidente): participación y ajuste en pesos en cada 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mes cerrado vs en curso · Sep 2026 vs Oct al 17 · rango de % aplicado al precio de lista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7287" cy="46040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472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bruta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Rango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100% O MAS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97 menos de 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95 menos de 97%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93 menos de 95%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90 menos de 93%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$48.360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$26.311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$48.360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$26.311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87 menos de 90%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$33.325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$57.449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$33.325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$57.449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85 menos de 87%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$183.446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$45.724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$183.446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$45.724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83 menos de 85%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$45.715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$4.975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$45.715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80 menos de 83%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$7.153.561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$2.680.992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$7.134.805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$2.680.992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$18.756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77 menos de 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$2.197.077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$764.419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$2.197.077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$764.419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75 menos de 77%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$9.879.812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$4.544.706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$9.760.467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$4.544.706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$119.345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73 menos de 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$856.441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$458.313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$697.670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$424.015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$158.771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$34.298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70 menos de 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$15.520.532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$7.302.444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$12.436.548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$7.138.079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$3.083.984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$164.365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67 menos de 70%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$4.632.308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$4.041.816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$4.176.384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$3.828.540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$455.924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$213.276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65 menos de 67%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$46.712.319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$27.710.370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$45.725.127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$26.812.148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$987.192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$898.222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63 menos de 65%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$2.475.477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$4.528.947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$1.875.172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$3.904.050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$600.305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$624.897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60 menos de 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$6.156.322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$3.998.669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$5.209.768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$2.462.156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$946.554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$1.536.513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57 menos de 60%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$368.418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$1.587.357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$191.207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$1.014.276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$177.211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$573.081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55 menos de 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$1.413.274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$1.052.490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$284.828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$260.115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$1.128.446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$792.375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53 menos de 55%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$307.032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$1.201.597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$96.232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$1.134.259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$210.800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$67.338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Mas de 50 menos de 53%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$13.203.715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$14.016.386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$2.135.008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$4.266.600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$11.068.707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$9.749.786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Menos de 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$2.770.870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$110.338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$1.272.824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$110.338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$1.498.046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Tradicional: Mayoreo es el 99,9% de la venta kg; % aplicado al precio de lista general 68,4% en Mayoreo y 65,6% en Puntos Venta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9.373.458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3.015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9.376.473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5.203.023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2.650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5.205.674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$94.358.733.495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$55.209.616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$94.413.943.111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$54.226.924.276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$46.267.839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$54.273.192.115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$66.391.426.658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$34.523.332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$66.425.949.990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$37.077.538.845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$30.328.877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$37.107.867.722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-44,1%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$27.967.306.837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$20.686.284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$27.987.993.121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$17.149.385.431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$15.938.962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$17.165.324.393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$21.168.618.080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$20.404.386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$21.189.022.466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$13.230.830.441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$15.720.358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$13.246.550.799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$6.798.688.757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$281.898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$6.798.970.655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$3.918.554.990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$218.604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$3.918.773.594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$10.067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$18.315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$10.069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$10.422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$17.458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$10.426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+3,5%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$7.083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$11.452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$7.084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$7.126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$11.444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$7.128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70,4%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-2,0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+2,0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66,0%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-2,0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34,0%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+2,0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-0,0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+0,0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Institucional: Mayoreo es el 95,2% de la venta kg; % aplicado al precio de lista general 66,9% en Mayoreo y 71,4% en Puntos Venta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3.315.447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151.633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3.467.080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1.856.032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93.996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1.950.028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$39.487.466.006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$2.928.485.200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$42.415.951.206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$22.680.815.875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$1.807.808.888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$24.488.624.763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$26.669.089.591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$2.098.629.631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$28.767.719.222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$15.168.077.649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$1.290.319.774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$16.458.397.423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$12.818.376.415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$829.855.569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$13.648.231.984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$7.512.738.226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$517.489.114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$8.030.227.340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$10.154.303.287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$766.134.002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$10.920.437.289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$5.516.238.477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$484.780.974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$6.001.019.451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$2.664.073.128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$63.721.567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$2.727.794.695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$1.996.499.749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$32.708.140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$2.029.207.889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-25,6%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$11.910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$19.313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$12.234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$12.220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$19.233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$12.558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+2,6%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$8.044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$13.840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$8.297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$8.172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$13.727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66,9%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-0,6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+0,6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+1,2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-1,2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93,3%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-1,9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6,4%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+1,9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Modernos: Mayoreo es el 100,0% de la venta kg; % aplicado al precio de lista general 67,9% en Mayoreo y 100,0% en Puntos Venta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2.544.838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2.544.838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1.671.058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1.671.088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$34.716.418.116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$34.716.418.116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$23.116.864.005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$497.115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$23.117.361.120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$23.702.877.784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$23.702.877.784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$15.687.645.997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$497.115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$15.688.143.112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-33,8%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$11.013.540.332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$11.013.540.332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$7.429.218.008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$7.429.218.008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$7.987.757.794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$7.987.757.794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$5.362.322.659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$5.362.322.659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$3.025.782.538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$3.025.782.538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$2.066.895.349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$2.066.895.349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$13.642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$13.642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$16.937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$13.834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$9.314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$9.314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$9.388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$16.937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$9.388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67,9%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-0,4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32,1%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+0,4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76,8%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-0,2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-0,2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+0,2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7. CANAL DE VENTA Y CANAL DE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0B0B"/>
                </a:solidFill>
              </a:rPr>
              <a:t>Amas de casa: Puntos Venta es el 92,2% de la venta kg; % aplicado al precio de lista general 71,7% en Puntos Venta y 99,9% en Mayoreo (Oct al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Canal de venta · Mayoreo + Puntos de Venta = Total (kg, venta y ajustes); los % y precios se recalculan · Sep 2026 vs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89" cy="4870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6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Variación Oct al 17 vs 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Mayoreo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Puntos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B0B0B"/>
                          </a:solidFill>
                        </a:rPr>
                        <a:t>Total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146.946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146.946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7.215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84.949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92.164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-37,3%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$3.136.777.445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$3.136.777.445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$41.740.685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$1.785.801.981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$1.827.542.666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Venta neta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$2.248.949.882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$2.248.949.882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$41.698.952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$1.280.824.304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$1.322.523.256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-41,2%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$887.827.563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$887.827.563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$41.733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$504.977.677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$505.019.410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precio de mercado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$715.039.482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$715.039.482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$41.733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$406.315.085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$406.356.818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-43,2%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$172.788.081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$172.788.081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$98.662.592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$98.662.592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-42,9%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lista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$21.346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$21.346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$5.785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$21.022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$19.829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Precio neto por kg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$15.305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$15.305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$5.779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$15.078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$14.350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-6,2%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+0,7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27,6%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-0,7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77,8%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+0,6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precio de mercado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22,2%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-0,6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</a:rPr>
                        <a:t>% aplicado al precio de lista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94,5%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94,6%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B0B0B"/>
                          </a:solidFill>
                        </a:rPr>
                        <a:t>+0,1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0B0B"/>
                          </a:solidFill>
                        </a:rPr>
                        <a:t>-0,1 pts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8. CONCENTRACIÓN DEL AJUSTE - DISTRIBUIDORAS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2 distribuidoras concentran la mitad del ajuste general — Acopi, Pereira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ordenadas por ajuste general de Oct al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311128" cy="3749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0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acum.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aplicado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aplicado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aplicado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Distribuidora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Sep 2026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B0B0B"/>
                          </a:solidFill>
                        </a:rPr>
                        <a:t>Oct al 17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ACOPI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$15.046.338.382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45,4%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2.853.683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$39.343.261.541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62,4%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92,1%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7,9%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B0B0B"/>
                          </a:solidFill>
                        </a:rPr>
                        <a:t>PEREIRA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$6.743.773.892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1.337.826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$19.102.148.198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64,7%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35,3%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76,6%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23,4%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91,1%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88,1%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B0B0B"/>
                          </a:solidFill>
                        </a:rPr>
                        <a:t>11,9%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BUGA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$3.538.929.868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76,5%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880.753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$11.116.463.769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68,2%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31,8%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75,3%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24,7%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92,8%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PASTO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$2.910.277.686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632.888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$8.124.791.137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63,6%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75,8%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24,2%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90,3%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88,3%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MANIZALES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$2.715.498.747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93,4%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494.301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$7.133.655.046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62,7%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71,1%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28,9%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94,8%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90,8%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POPAYAN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$2.174.970.576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408.134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$5.702.285.240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62,3%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61,9%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38,1%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67,5%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92,5%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94,3%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7,5%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POLLO CANAL BLANCO CON VISCERA-OCCIDENTE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31.920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$170.099.930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POLLO CANAL CAMPESINO CON VISCERA-OCCI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427.490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$2.364.920.730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99,9%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SUMINISTRO NACIONAL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1.521.029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$8.796.875.010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B0B0B"/>
                          </a:solidFill>
                        </a:rPr>
                        <a:t>VENTA GERENCIA OCCIDENTE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330.928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$1.852.220.063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95,1%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100,0%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4,9%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9. CONCENTRACIÓN DEL AJUSTE – CLIENTES MAYOREO –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Clientes Mayoreo: 105 concentran la mitad del ajuste general de Oct al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top 30 por ajuste general en Oct al 17 · 10.109 clientes con ajuste (11.463 en 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89" cy="48005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8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B0B0B"/>
                          </a:solidFill>
                        </a:rPr>
                        <a:t>Cliente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1200180783 - SURTÍ ALIMENTOS COLOMBIA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162.487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$2.278.901.047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$1.066.468.090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46,8%</a:t>
                      </a:r>
                    </a:p>
                  </a:txBody>
                  <a:tcPr marL="36576" marR="36576" marT="9144" marB="9144" anchor="ctr">
                    <a:solidFill>
                      <a:srgbClr val="F2C2A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$985.785.464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43,3%</a:t>
                      </a:r>
                    </a:p>
                  </a:txBody>
                  <a:tcPr marL="36576" marR="36576" marT="9144" marB="9144" anchor="ctr">
                    <a:solidFill>
                      <a:srgbClr val="E9976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$80.682.626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3,5%</a:t>
                      </a:r>
                    </a:p>
                  </a:txBody>
                  <a:tcPr marL="36576" marR="36576" marT="9144" marB="9144" anchor="ctr">
                    <a:solidFill>
                      <a:srgbClr val="FB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1200094213 - EL GRAN SURTIDOR PS S.A.S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193.366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$2.294.516.462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$982.227.203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42,8%</a:t>
                      </a:r>
                    </a:p>
                  </a:txBody>
                  <a:tcPr marL="36576" marR="36576" marT="9144" marB="9144" anchor="ctr">
                    <a:solidFill>
                      <a:srgbClr val="F4CD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$834.050.894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36,3%</a:t>
                      </a:r>
                    </a:p>
                  </a:txBody>
                  <a:tcPr marL="36576" marR="36576" marT="9144" marB="9144" anchor="ctr">
                    <a:solidFill>
                      <a:srgbClr val="ECA68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$148.176.309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6,5%</a:t>
                      </a:r>
                    </a:p>
                  </a:txBody>
                  <a:tcPr marL="36576" marR="36576" marT="9144" marB="9144" anchor="ctr">
                    <a:solidFill>
                      <a:srgbClr val="FB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1200185579 - GABRIELA ROCIO ARIAS OCAM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133.845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$1.813.482.539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$841.258.722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46,4%</a:t>
                      </a:r>
                    </a:p>
                  </a:txBody>
                  <a:tcPr marL="36576" marR="36576" marT="9144" marB="9144" anchor="ctr">
                    <a:solidFill>
                      <a:srgbClr val="F2C4A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$559.274.547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30,8%</a:t>
                      </a:r>
                    </a:p>
                  </a:txBody>
                  <a:tcPr marL="36576" marR="36576" marT="9144" marB="9144" anchor="ctr">
                    <a:solidFill>
                      <a:srgbClr val="EFB29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$281.984.175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15,5%</a:t>
                      </a:r>
                    </a:p>
                  </a:txBody>
                  <a:tcPr marL="36576" marR="36576" marT="9144" marB="9144" anchor="ctr">
                    <a:solidFill>
                      <a:srgbClr val="F8D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1200193667 - AVICOLA LA MAYORISTA CP 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86.024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$1.206.532.853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$576.837.480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47,8%</a:t>
                      </a:r>
                    </a:p>
                  </a:txBody>
                  <a:tcPr marL="36576" marR="36576" marT="9144" marB="9144" anchor="ctr">
                    <a:solidFill>
                      <a:srgbClr val="F1C0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$576.244.860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47,8%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$592.620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1200155131 - COMERCIALIZADORA AVICOLA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69.996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$1.077.836.724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$560.546.417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52,0%</a:t>
                      </a:r>
                    </a:p>
                  </a:txBody>
                  <a:tcPr marL="36576" marR="36576" marT="9144" marB="9144" anchor="ctr">
                    <a:solidFill>
                      <a:srgbClr val="EFB49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$690.959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0,1%</a:t>
                      </a:r>
                    </a:p>
                  </a:txBody>
                  <a:tcPr marL="36576" marR="36576" marT="9144" marB="9144" anchor="ctr">
                    <a:solidFill>
                      <a:srgbClr val="FD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$559.855.458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51,9%</a:t>
                      </a:r>
                    </a:p>
                  </a:txBody>
                  <a:tcPr marL="36576" marR="36576" marT="9144" marB="9144" anchor="ctr">
                    <a:solidFill>
                      <a:srgbClr val="ECA4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1200204922 - COMERCIALIZADORA CALI CAR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62.581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$1.073.082.912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$503.107.710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46,9%</a:t>
                      </a:r>
                    </a:p>
                  </a:txBody>
                  <a:tcPr marL="36576" marR="36576" marT="9144" marB="9144" anchor="ctr">
                    <a:solidFill>
                      <a:srgbClr val="F2C2A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$302.485.649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28,2%</a:t>
                      </a:r>
                    </a:p>
                  </a:txBody>
                  <a:tcPr marL="36576" marR="36576" marT="9144" marB="9144" anchor="ctr">
                    <a:solidFill>
                      <a:srgbClr val="F0B89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$200.622.061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18,7%</a:t>
                      </a:r>
                    </a:p>
                  </a:txBody>
                  <a:tcPr marL="36576" marR="36576" marT="9144" marB="9144" anchor="ctr">
                    <a:solidFill>
                      <a:srgbClr val="F7D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1200214233 - POLLOS DEL CAMPO Y MAS S.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84.323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$1.219.389.747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$487.679.078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40,0%</a:t>
                      </a:r>
                    </a:p>
                  </a:txBody>
                  <a:tcPr marL="36576" marR="36576" marT="9144" marB="9144" anchor="ctr">
                    <a:solidFill>
                      <a:srgbClr val="F6D5C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$472.239.502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38,7%</a:t>
                      </a:r>
                    </a:p>
                  </a:txBody>
                  <a:tcPr marL="36576" marR="36576" marT="9144" marB="9144" anchor="ctr">
                    <a:solidFill>
                      <a:srgbClr val="EBA17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$15.439.576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1,3%</a:t>
                      </a:r>
                    </a:p>
                  </a:txBody>
                  <a:tcPr marL="36576" marR="36576" marT="9144" marB="9144" anchor="ctr">
                    <a:solidFill>
                      <a:srgbClr val="FC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1200090603 - ALTERNATIVAS ALIMENTICIAS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46.730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$1.185.865.206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$485.466.474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40,9%</a:t>
                      </a:r>
                    </a:p>
                  </a:txBody>
                  <a:tcPr marL="36576" marR="36576" marT="9144" marB="9144" anchor="ctr">
                    <a:solidFill>
                      <a:srgbClr val="F5D2C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$485.466.474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40,9%</a:t>
                      </a:r>
                    </a:p>
                  </a:txBody>
                  <a:tcPr marL="36576" marR="36576" marT="9144" marB="9144" anchor="ctr">
                    <a:solidFill>
                      <a:srgbClr val="EA9C7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1200160607 - JOHN JAIRO CARDENAS BAUTI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60.723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$914.780.342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$427.569.351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46,7%</a:t>
                      </a:r>
                    </a:p>
                  </a:txBody>
                  <a:tcPr marL="36576" marR="36576" marT="9144" marB="9144" anchor="ctr">
                    <a:solidFill>
                      <a:srgbClr val="F2C3A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$343.490.439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37,5%</a:t>
                      </a:r>
                    </a:p>
                  </a:txBody>
                  <a:tcPr marL="36576" marR="36576" marT="9144" marB="9144" anchor="ctr">
                    <a:solidFill>
                      <a:srgbClr val="ECA47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$84.078.912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9,2%</a:t>
                      </a:r>
                    </a:p>
                  </a:txBody>
                  <a:tcPr marL="36576" marR="36576" marT="9144" marB="9144" anchor="ctr">
                    <a:solidFill>
                      <a:srgbClr val="FAE7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1200107324 - MERCAMIO S.A.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119.254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$1.368.788.002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$383.231.075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$383.231.075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28,0%</a:t>
                      </a:r>
                    </a:p>
                  </a:txBody>
                  <a:tcPr marL="36576" marR="36576" marT="9144" marB="9144" anchor="ctr">
                    <a:solidFill>
                      <a:srgbClr val="F0B89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1200092507 - FRANCISCO ADRIAN BENAVIDE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75.658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$980.484.414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$339.154.571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34,6%</a:t>
                      </a:r>
                    </a:p>
                  </a:txBody>
                  <a:tcPr marL="36576" marR="36576" marT="9144" marB="9144" anchor="ctr">
                    <a:solidFill>
                      <a:srgbClr val="F9E4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$109.518.665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11,2%</a:t>
                      </a:r>
                    </a:p>
                  </a:txBody>
                  <a:tcPr marL="36576" marR="36576" marT="9144" marB="9144" anchor="ctr">
                    <a:solidFill>
                      <a:srgbClr val="F8DD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$229.635.906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23,4%</a:t>
                      </a:r>
                    </a:p>
                  </a:txBody>
                  <a:tcPr marL="36576" marR="36576" marT="9144" marB="9144" anchor="ctr">
                    <a:solidFill>
                      <a:srgbClr val="F5D1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1200246757 - DISTRIBUIDORA PIO POLLO 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41.282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$712.569.286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$329.393.275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46,2%</a:t>
                      </a:r>
                    </a:p>
                  </a:txBody>
                  <a:tcPr marL="36576" marR="36576" marT="9144" marB="9144" anchor="ctr">
                    <a:solidFill>
                      <a:srgbClr val="F2C4A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$250.569.832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35,2%</a:t>
                      </a:r>
                    </a:p>
                  </a:txBody>
                  <a:tcPr marL="36576" marR="36576" marT="9144" marB="9144" anchor="ctr">
                    <a:solidFill>
                      <a:srgbClr val="EDA9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$78.823.443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11,1%</a:t>
                      </a:r>
                    </a:p>
                  </a:txBody>
                  <a:tcPr marL="36576" marR="36576" marT="9144" marB="9144" anchor="ctr">
                    <a:solidFill>
                      <a:srgbClr val="F9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1200129315 - CARNES TOBON BUENAVENTURA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79.320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$931.035.124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$296.938.417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31,9%</a:t>
                      </a:r>
                    </a:p>
                  </a:txBody>
                  <a:tcPr marL="36576" marR="36576" marT="9144" marB="9144" anchor="ctr">
                    <a:solidFill>
                      <a:srgbClr val="FAEB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$272.528.979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29,3%</a:t>
                      </a:r>
                    </a:p>
                  </a:txBody>
                  <a:tcPr marL="36576" marR="36576" marT="9144" marB="9144" anchor="ctr">
                    <a:solidFill>
                      <a:srgbClr val="EFB6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$24.409.438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2,6%</a:t>
                      </a:r>
                    </a:p>
                  </a:txBody>
                  <a:tcPr marL="36576" marR="36576" marT="9144" marB="9144" anchor="ctr">
                    <a:solidFill>
                      <a:srgbClr val="FC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1200214989 - BOMBA FOODS S.A.S.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28.868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$656.524.809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$240.768.661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36,7%</a:t>
                      </a:r>
                    </a:p>
                  </a:txBody>
                  <a:tcPr marL="36576" marR="36576" marT="9144" marB="9144" anchor="ctr">
                    <a:solidFill>
                      <a:srgbClr val="F8DE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$240.768.661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36,7%</a:t>
                      </a:r>
                    </a:p>
                  </a:txBody>
                  <a:tcPr marL="36576" marR="36576" marT="9144" marB="9144" anchor="ctr">
                    <a:solidFill>
                      <a:srgbClr val="ECA58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1200095355 - GRUPO SANTIAGO EXPRESS S.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38.192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$560.316.278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$233.641.966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41,7%</a:t>
                      </a:r>
                    </a:p>
                  </a:txBody>
                  <a:tcPr marL="36576" marR="36576" marT="9144" marB="9144" anchor="ctr">
                    <a:solidFill>
                      <a:srgbClr val="F5D0B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$233.641.966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41,7%</a:t>
                      </a:r>
                    </a:p>
                  </a:txBody>
                  <a:tcPr marL="36576" marR="36576" marT="9144" marB="9144" anchor="ctr">
                    <a:solidFill>
                      <a:srgbClr val="EA9A7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1200100865 - JOSE ENRIQUE GONZALEZ MOR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54.854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$337.778.244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$224.125.439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66,4%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$224.125.439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66,4%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1200187295 - VICTOR ALFONSO CORREA MAR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44.527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$511.628.500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$214.876.970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42,0%</a:t>
                      </a:r>
                    </a:p>
                  </a:txBody>
                  <a:tcPr marL="36576" marR="36576" marT="9144" marB="9144" anchor="ctr">
                    <a:solidFill>
                      <a:srgbClr val="F5CFB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$44.716.548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8,7%</a:t>
                      </a:r>
                    </a:p>
                  </a:txBody>
                  <a:tcPr marL="36576" marR="36576" marT="9144" marB="9144" anchor="ctr">
                    <a:solidFill>
                      <a:srgbClr val="F9E2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$170.160.422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33,3%</a:t>
                      </a:r>
                    </a:p>
                  </a:txBody>
                  <a:tcPr marL="36576" marR="36576" marT="9144" marB="9144" anchor="ctr">
                    <a:solidFill>
                      <a:srgbClr val="F2C1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1200089954 - MARTIN FELIPE MORENO VALE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35.491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$521.919.473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$212.436.226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40,7%</a:t>
                      </a:r>
                    </a:p>
                  </a:txBody>
                  <a:tcPr marL="36576" marR="36576" marT="9144" marB="9144" anchor="ctr">
                    <a:solidFill>
                      <a:srgbClr val="F5D3C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$212.436.226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40,7%</a:t>
                      </a:r>
                    </a:p>
                  </a:txBody>
                  <a:tcPr marL="36576" marR="36576" marT="9144" marB="9144" anchor="ctr">
                    <a:solidFill>
                      <a:srgbClr val="EA9D7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1200093026 - JULIO CESAR RESTREPO Y CI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40.879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$514.196.608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$183.530.147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35,7%</a:t>
                      </a:r>
                    </a:p>
                  </a:txBody>
                  <a:tcPr marL="36576" marR="36576" marT="9144" marB="9144" anchor="ctr">
                    <a:solidFill>
                      <a:srgbClr val="F8E1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$106.581.080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20,7%</a:t>
                      </a:r>
                    </a:p>
                  </a:txBody>
                  <a:tcPr marL="36576" marR="36576" marT="9144" marB="9144" anchor="ctr">
                    <a:solidFill>
                      <a:srgbClr val="F3C8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$76.949.067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8D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1200090049 - CFC PROCESADORA DE ALIMEN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38.751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$288.115.347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$171.862.968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59,7%</a:t>
                      </a:r>
                    </a:p>
                  </a:txBody>
                  <a:tcPr marL="36576" marR="36576" marT="9144" marB="9144" anchor="ctr">
                    <a:solidFill>
                      <a:srgbClr val="EB9F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$171.862.968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59,7%</a:t>
                      </a:r>
                    </a:p>
                  </a:txBody>
                  <a:tcPr marL="36576" marR="36576" marT="9144" marB="9144" anchor="ctr">
                    <a:solidFill>
                      <a:srgbClr val="E998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1200141608 - COMERCIALIZADORA MALTA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20.399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$368.266.324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$162.884.955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44,2%</a:t>
                      </a:r>
                    </a:p>
                  </a:txBody>
                  <a:tcPr marL="36576" marR="36576" marT="9144" marB="9144" anchor="ctr">
                    <a:solidFill>
                      <a:srgbClr val="F3C9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$162.884.955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44,2%</a:t>
                      </a:r>
                    </a:p>
                  </a:txBody>
                  <a:tcPr marL="36576" marR="36576" marT="9144" marB="9144" anchor="ctr">
                    <a:solidFill>
                      <a:srgbClr val="E9956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1200232376 - ESTEFANIA OSORIO MARIN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28.724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$297.471.463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$162.100.294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54,5%</a:t>
                      </a:r>
                    </a:p>
                  </a:txBody>
                  <a:tcPr marL="36576" marR="36576" marT="9144" marB="9144" anchor="ctr">
                    <a:solidFill>
                      <a:srgbClr val="EEAE8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$12.110.855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4,1%</a:t>
                      </a:r>
                    </a:p>
                  </a:txBody>
                  <a:tcPr marL="36576" marR="36576" marT="9144" marB="9144" anchor="ctr"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$149.989.439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50,4%</a:t>
                      </a:r>
                    </a:p>
                  </a:txBody>
                  <a:tcPr marL="36576" marR="36576" marT="9144" marB="9144" anchor="ctr">
                    <a:solidFill>
                      <a:srgbClr val="ECA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1200094177 - QUICENO &amp; CIA S.C.A.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Modernos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22.797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$390.662.514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$153.787.254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39,4%</a:t>
                      </a:r>
                    </a:p>
                  </a:txBody>
                  <a:tcPr marL="36576" marR="36576" marT="9144" marB="9144" anchor="ctr">
                    <a:solidFill>
                      <a:srgbClr val="F6D7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$107.954.384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27,6%</a:t>
                      </a:r>
                    </a:p>
                  </a:txBody>
                  <a:tcPr marL="36576" marR="36576" marT="9144" marB="9144" anchor="ctr">
                    <a:solidFill>
                      <a:srgbClr val="F0B99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$45.832.870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11,7%</a:t>
                      </a:r>
                    </a:p>
                  </a:txBody>
                  <a:tcPr marL="36576" marR="36576" marT="9144" marB="9144" anchor="ctr">
                    <a:solidFill>
                      <a:srgbClr val="F9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1200166650 - DISTRIBUIDORA POLLOPEZ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33.022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$442.054.848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$144.489.115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32,7%</a:t>
                      </a:r>
                    </a:p>
                  </a:txBody>
                  <a:tcPr marL="36576" marR="36576" marT="9144" marB="9144" anchor="ctr">
                    <a:solidFill>
                      <a:srgbClr val="FAE9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$144.489.115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32,7%</a:t>
                      </a:r>
                    </a:p>
                  </a:txBody>
                  <a:tcPr marL="36576" marR="36576" marT="9144" marB="9144" anchor="ctr">
                    <a:solidFill>
                      <a:srgbClr val="EEAE8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1200246752 - CARLOS ENRIQUE CESPEDES 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29.187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$269.825.048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$144.475.538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53,5%</a:t>
                      </a:r>
                    </a:p>
                  </a:txBody>
                  <a:tcPr marL="36576" marR="36576" marT="9144" marB="9144" anchor="ctr">
                    <a:solidFill>
                      <a:srgbClr val="EEB09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$144.475.538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53,5%</a:t>
                      </a:r>
                    </a:p>
                  </a:txBody>
                  <a:tcPr marL="36576" marR="36576" marT="9144" marB="9144" anchor="ctr">
                    <a:solidFill>
                      <a:srgbClr val="EBA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1200228434 - GRUPO RICO POLLO S.A.S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29.139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$374.097.133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$144.028.543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38,5%</a:t>
                      </a:r>
                    </a:p>
                  </a:txBody>
                  <a:tcPr marL="36576" marR="36576" marT="9144" marB="9144" anchor="ctr">
                    <a:solidFill>
                      <a:srgbClr val="F7D9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$143.178.043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38,3%</a:t>
                      </a:r>
                    </a:p>
                  </a:txBody>
                  <a:tcPr marL="36576" marR="36576" marT="9144" marB="9144" anchor="ctr">
                    <a:solidFill>
                      <a:srgbClr val="EBA27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$850.500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0,2%</a:t>
                      </a:r>
                    </a:p>
                  </a:txBody>
                  <a:tcPr marL="36576" marR="36576" marT="9144" marB="9144" anchor="ctr">
                    <a:solidFill>
                      <a:srgbClr val="FD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1200241296 - AVICOLA LULA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15.732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$257.313.154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$137.249.940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53,3%</a:t>
                      </a:r>
                    </a:p>
                  </a:txBody>
                  <a:tcPr marL="36576" marR="36576" marT="9144" marB="9144" anchor="ctr">
                    <a:solidFill>
                      <a:srgbClr val="EEB19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$28.308.765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11,0%</a:t>
                      </a:r>
                    </a:p>
                  </a:txBody>
                  <a:tcPr marL="36576" marR="36576" marT="9144" marB="9144" anchor="ctr">
                    <a:solidFill>
                      <a:srgbClr val="F8DED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$108.941.175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42,3%</a:t>
                      </a:r>
                    </a:p>
                  </a:txBody>
                  <a:tcPr marL="36576" marR="36576" marT="9144" marB="9144" anchor="ctr">
                    <a:solidFill>
                      <a:srgbClr val="EFB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1200096144 - COMERCIALIZADORA MAXX SAB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21.784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$313.126.128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$136.287.634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43,5%</a:t>
                      </a:r>
                    </a:p>
                  </a:txBody>
                  <a:tcPr marL="36576" marR="36576" marT="9144" marB="9144" anchor="ctr">
                    <a:solidFill>
                      <a:srgbClr val="F4CBB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$114.062.614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36,4%</a:t>
                      </a:r>
                    </a:p>
                  </a:txBody>
                  <a:tcPr marL="36576" marR="36576" marT="9144" marB="9144" anchor="ctr">
                    <a:solidFill>
                      <a:srgbClr val="ECA68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$22.225.020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7,1%</a:t>
                      </a:r>
                    </a:p>
                  </a:txBody>
                  <a:tcPr marL="36576" marR="36576" marT="9144" marB="9144" anchor="ctr">
                    <a:solidFill>
                      <a:srgbClr val="FA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1200090605 - CENTRO CARNES AGROPECUARI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31.026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$369.733.675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$135.494.879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36,6%</a:t>
                      </a:r>
                    </a:p>
                  </a:txBody>
                  <a:tcPr marL="36576" marR="36576" marT="9144" marB="9144" anchor="ctr">
                    <a:solidFill>
                      <a:srgbClr val="F8DE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$135.372.487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36,6%</a:t>
                      </a:r>
                    </a:p>
                  </a:txBody>
                  <a:tcPr marL="36576" marR="36576" marT="9144" marB="9144" anchor="ctr">
                    <a:solidFill>
                      <a:srgbClr val="ECA68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$122.392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1200176347 - DIANA YINED AGUIRRE GONZA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24.452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$323.384.545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$134.237.430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41,5%</a:t>
                      </a:r>
                    </a:p>
                  </a:txBody>
                  <a:tcPr marL="36576" marR="36576" marT="9144" marB="9144" anchor="ctr">
                    <a:solidFill>
                      <a:srgbClr val="F5D1B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$66.281.069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20,5%</a:t>
                      </a:r>
                    </a:p>
                  </a:txBody>
                  <a:tcPr marL="36576" marR="36576" marT="9144" marB="9144" anchor="ctr">
                    <a:solidFill>
                      <a:srgbClr val="F3C9B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$67.956.361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21,0%</a:t>
                      </a:r>
                    </a:p>
                  </a:txBody>
                  <a:tcPr marL="36576" marR="36576" marT="9144" marB="9144" anchor="ctr">
                    <a:solidFill>
                      <a:srgbClr val="F6D5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295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78D6"/>
                </a:solidFill>
              </a:rPr>
              <a:t>9. CONCENTRACIÓN DEL AJUSTE – CLIENTES PUNTOS DE VENTA – OCT AL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</a:rPr>
              <a:t>Clientes Puntos Venta: 13 concentran la mitad del ajuste general de Oct al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33271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</a:rPr>
              <a:t>Región Occidente · top 30 por ajuste general en Oct al 17 · 1.543 clientes con ajuste (1.891 en 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9224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C8B87"/>
                </a:solidFill>
              </a:rPr>
              <a:t>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89" cy="48005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8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73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0B0B0B"/>
                          </a:solidFill>
                        </a:rPr>
                        <a:t>Cliente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Canal de venta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kg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Venta bruta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general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general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precio mercado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precio mercado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Ajuste de fecha corta ($)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B0B0B"/>
                          </a:solidFill>
                        </a:rPr>
                        <a:t>% Ajuste de fecha corta</a:t>
                      </a:r>
                    </a:p>
                  </a:txBody>
                  <a:tcPr marL="36576" marR="36576" marT="9144" marB="9144" anchor="ctr"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1300011545 - CLIENTE MOSTRADOR ESPECIA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42.265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$886.678.663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$249.776.047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28,2%</a:t>
                      </a:r>
                    </a:p>
                  </a:txBody>
                  <a:tcPr marL="36576" marR="36576" marT="9144" marB="9144" anchor="ctr">
                    <a:solidFill>
                      <a:srgbClr val="F6D4C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$199.906.086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22,5%</a:t>
                      </a:r>
                    </a:p>
                  </a:txBody>
                  <a:tcPr marL="36576" marR="36576" marT="9144" marB="9144" anchor="ctr">
                    <a:solidFill>
                      <a:srgbClr val="F7DD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$49.869.961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5,6%</a:t>
                      </a:r>
                    </a:p>
                  </a:txBody>
                  <a:tcPr marL="36576" marR="36576" marT="9144" marB="9144" anchor="ctr">
                    <a:solidFill>
                      <a:srgbClr val="E891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1800000000 - CLIENTE ESPORADICO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18.670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$413.273.074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$119.239.045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28,9%</a:t>
                      </a:r>
                    </a:p>
                  </a:txBody>
                  <a:tcPr marL="36576" marR="36576" marT="9144" marB="9144" anchor="ctr">
                    <a:solidFill>
                      <a:srgbClr val="F5D2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$96.558.873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23,4%</a:t>
                      </a:r>
                    </a:p>
                  </a:txBody>
                  <a:tcPr marL="36576" marR="36576" marT="9144" marB="9144" anchor="ctr">
                    <a:solidFill>
                      <a:srgbClr val="F7DA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$22.680.172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5,5%</a:t>
                      </a:r>
                    </a:p>
                  </a:txBody>
                  <a:tcPr marL="36576" marR="36576" marT="9144" marB="9144" anchor="ctr">
                    <a:solidFill>
                      <a:srgbClr val="E893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1800000005 - CLIENTE ESPORADICO ESPECI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5.621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$125.645.736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$36.780.128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29,3%</a:t>
                      </a:r>
                    </a:p>
                  </a:txBody>
                  <a:tcPr marL="36576" marR="36576" marT="9144" marB="9144" anchor="ctr">
                    <a:solidFill>
                      <a:srgbClr val="F5D0B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$30.239.760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24,1%</a:t>
                      </a:r>
                    </a:p>
                  </a:txBody>
                  <a:tcPr marL="36576" marR="36576" marT="9144" marB="9144" anchor="ctr">
                    <a:solidFill>
                      <a:srgbClr val="F7D8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$6.540.368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5,2%</a:t>
                      </a:r>
                    </a:p>
                  </a:txBody>
                  <a:tcPr marL="36576" marR="36576" marT="9144" marB="9144" anchor="ctr">
                    <a:solidFill>
                      <a:srgbClr val="E998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1300000006 - CLIENTE MOSTRADOR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6.249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$120.599.821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$31.512.027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26,1%</a:t>
                      </a:r>
                    </a:p>
                  </a:txBody>
                  <a:tcPr marL="36576" marR="36576" marT="9144" marB="9144" anchor="ctr">
                    <a:solidFill>
                      <a:srgbClr val="F7DB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$24.602.731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20,4%</a:t>
                      </a:r>
                    </a:p>
                  </a:txBody>
                  <a:tcPr marL="36576" marR="36576" marT="9144" marB="9144" anchor="ctr">
                    <a:solidFill>
                      <a:srgbClr val="F9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$6.909.296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5,7%</a:t>
                      </a:r>
                    </a:p>
                  </a:txBody>
                  <a:tcPr marL="36576" marR="36576" marT="9144" marB="9144" anchor="ctr">
                    <a:solidFill>
                      <a:srgbClr val="E78F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1300034618 - CAMILO ANDRES MARTINEZ RO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1.570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$31.949.502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$15.457.914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48,4%</a:t>
                      </a:r>
                    </a:p>
                  </a:txBody>
                  <a:tcPr marL="36576" marR="36576" marT="9144" marB="9144" anchor="ctr">
                    <a:solidFill>
                      <a:srgbClr val="E78E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$15.457.914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48,4%</a:t>
                      </a:r>
                    </a:p>
                  </a:txBody>
                  <a:tcPr marL="36576" marR="36576" marT="9144" marB="9144" anchor="ctr">
                    <a:solidFill>
                      <a:srgbClr val="E78E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1300025548 - LUIS GONZALO GOMEZ OROZCO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$35.333.620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$12.009.316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34,0%</a:t>
                      </a:r>
                    </a:p>
                  </a:txBody>
                  <a:tcPr marL="36576" marR="36576" marT="9144" marB="9144" anchor="ctr">
                    <a:solidFill>
                      <a:srgbClr val="F2C0A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$12.009.316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34,0%</a:t>
                      </a:r>
                    </a:p>
                  </a:txBody>
                  <a:tcPr marL="36576" marR="36576" marT="9144" marB="9144" anchor="ctr">
                    <a:solidFill>
                      <a:srgbClr val="F0BA9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1300023181 - CRISTHIAN JHONATAN MONCAY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1.557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$32.384.302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$9.716.526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30,0%</a:t>
                      </a:r>
                    </a:p>
                  </a:txBody>
                  <a:tcPr marL="36576" marR="36576" marT="9144" marB="9144" anchor="ctr">
                    <a:solidFill>
                      <a:srgbClr val="F4CEB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$9.716.526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30,0%</a:t>
                      </a:r>
                    </a:p>
                  </a:txBody>
                  <a:tcPr marL="36576" marR="36576" marT="9144" marB="9144" anchor="ctr">
                    <a:solidFill>
                      <a:srgbClr val="F3C6A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1300031583 - GRUPO STREETBURGER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1.568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$28.335.920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$8.904.313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31,4%</a:t>
                      </a:r>
                    </a:p>
                  </a:txBody>
                  <a:tcPr marL="36576" marR="36576" marT="9144" marB="9144" anchor="ctr">
                    <a:solidFill>
                      <a:srgbClr val="F3C9B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$8.578.818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30,3%</a:t>
                      </a:r>
                    </a:p>
                  </a:txBody>
                  <a:tcPr marL="36576" marR="36576" marT="9144" marB="9144" anchor="ctr">
                    <a:solidFill>
                      <a:srgbClr val="F3C5A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$325.495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1,1%</a:t>
                      </a:r>
                    </a:p>
                  </a:txBody>
                  <a:tcPr marL="36576" marR="36576" marT="9144" marB="9144" anchor="ctr">
                    <a:solidFill>
                      <a:srgbClr val="F8E1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1300019815 - MARIA NIDIA CORREA MAMIAN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1.227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$25.505.170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$8.702.518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34,1%</a:t>
                      </a:r>
                    </a:p>
                  </a:txBody>
                  <a:tcPr marL="36576" marR="36576" marT="9144" marB="9144" anchor="ctr">
                    <a:solidFill>
                      <a:srgbClr val="F1C0A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$7.221.099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4CB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$1.481.419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5,8%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1300007609 - JORGE ROMERO PACHECO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2.016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$35.758.229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$8.529.026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23,9%</a:t>
                      </a:r>
                    </a:p>
                  </a:txBody>
                  <a:tcPr marL="36576" marR="36576" marT="9144" marB="9144" anchor="ctr">
                    <a:solidFill>
                      <a:srgbClr val="F9E3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$7.681.973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21,5%</a:t>
                      </a:r>
                    </a:p>
                  </a:txBody>
                  <a:tcPr marL="36576" marR="36576" marT="9144" marB="9144" anchor="ctr">
                    <a:solidFill>
                      <a:srgbClr val="F8E0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$847.053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2,4%</a:t>
                      </a:r>
                    </a:p>
                  </a:txBody>
                  <a:tcPr marL="36576" marR="36576" marT="9144" marB="9144" anchor="ctr">
                    <a:solidFill>
                      <a:srgbClr val="F4CB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1300029403 - DIANA MARIA YEPES ARIAS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$27.016.018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$8.371.843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31,0%</a:t>
                      </a:r>
                    </a:p>
                  </a:txBody>
                  <a:tcPr marL="36576" marR="36576" marT="9144" marB="9144" anchor="ctr">
                    <a:solidFill>
                      <a:srgbClr val="F4CAB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$8.371.843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31,0%</a:t>
                      </a:r>
                    </a:p>
                  </a:txBody>
                  <a:tcPr marL="36576" marR="36576" marT="9144" marB="9144" anchor="ctr">
                    <a:solidFill>
                      <a:srgbClr val="F2C3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1300031655 - PANDA BAMBOO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$20.357.083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$8.210.625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40,3%</a:t>
                      </a:r>
                    </a:p>
                  </a:txBody>
                  <a:tcPr marL="36576" marR="36576" marT="9144" marB="9144" anchor="ctr">
                    <a:solidFill>
                      <a:srgbClr val="EDAA8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$8.210.625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40,3%</a:t>
                      </a:r>
                    </a:p>
                  </a:txBody>
                  <a:tcPr marL="36576" marR="36576" marT="9144" marB="9144" anchor="ctr">
                    <a:solidFill>
                      <a:srgbClr val="ECA78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1300032847 - GRUPO ARMANDO S.A.S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$18.284.590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$7.264.468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39,7%</a:t>
                      </a:r>
                    </a:p>
                  </a:txBody>
                  <a:tcPr marL="36576" marR="36576" marT="9144" marB="9144" anchor="ctr">
                    <a:solidFill>
                      <a:srgbClr val="EDAC8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$7.264.468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39,7%</a:t>
                      </a:r>
                    </a:p>
                  </a:txBody>
                  <a:tcPr marL="36576" marR="36576" marT="9144" marB="9144" anchor="ctr">
                    <a:solidFill>
                      <a:srgbClr val="EDA88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1300023569 - YENNY PAOLA OCAMPO RESTRE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998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$24.293.427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$7.111.643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29,3%</a:t>
                      </a:r>
                    </a:p>
                  </a:txBody>
                  <a:tcPr marL="36576" marR="36576" marT="9144" marB="9144" anchor="ctr">
                    <a:solidFill>
                      <a:srgbClr val="F5D0B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$7.111.643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29,3%</a:t>
                      </a:r>
                    </a:p>
                  </a:txBody>
                  <a:tcPr marL="36576" marR="36576" marT="9144" marB="9144" anchor="ctr">
                    <a:solidFill>
                      <a:srgbClr val="F3C8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1300028062 - SAYONARA S.A.S.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705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$23.272.971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$6.590.667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6D4C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$6.590.667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28,3%</a:t>
                      </a:r>
                    </a:p>
                  </a:txBody>
                  <a:tcPr marL="36576" marR="36576" marT="9144" marB="9144" anchor="ctr">
                    <a:solidFill>
                      <a:srgbClr val="F4CBB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1300033766 - EVOLUCIONAMOS S A 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1.278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$21.267.873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$6.538.077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30,7%</a:t>
                      </a:r>
                    </a:p>
                  </a:txBody>
                  <a:tcPr marL="36576" marR="36576" marT="9144" marB="9144" anchor="ctr">
                    <a:solidFill>
                      <a:srgbClr val="F4CBB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$6.538.077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30,7%</a:t>
                      </a:r>
                    </a:p>
                  </a:txBody>
                  <a:tcPr marL="36576" marR="36576" marT="9144" marB="9144" anchor="ctr">
                    <a:solidFill>
                      <a:srgbClr val="F2C4A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1300034226 - DANTA PIZZERIA MANIZALES 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$21.234.781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$6.344.533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29,9%</a:t>
                      </a:r>
                    </a:p>
                  </a:txBody>
                  <a:tcPr marL="36576" marR="36576" marT="9144" marB="9144" anchor="ctr">
                    <a:solidFill>
                      <a:srgbClr val="F4CEB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$6.194.833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29,2%</a:t>
                      </a:r>
                    </a:p>
                  </a:txBody>
                  <a:tcPr marL="36576" marR="36576" marT="9144" marB="9144" anchor="ctr">
                    <a:solidFill>
                      <a:srgbClr val="F3C9B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$149.700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0,7%</a:t>
                      </a:r>
                    </a:p>
                  </a:txBody>
                  <a:tcPr marL="36576" marR="36576" marT="9144" marB="9144" anchor="ctr">
                    <a:solidFill>
                      <a:srgbClr val="FA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1300032406 - LAS ALITAS CALEÑAS DEL 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1.600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$26.672.910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$6.069.091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22,8%</a:t>
                      </a:r>
                    </a:p>
                  </a:txBody>
                  <a:tcPr marL="36576" marR="36576" marT="9144" marB="9144" anchor="ctr">
                    <a:solidFill>
                      <a:srgbClr val="FAE7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$6.069.091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22,8%</a:t>
                      </a:r>
                    </a:p>
                  </a:txBody>
                  <a:tcPr marL="36576" marR="36576" marT="9144" marB="9144" anchor="ctr">
                    <a:solidFill>
                      <a:srgbClr val="F7DC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1300033948 - LUZ EDILIA MARTINEZ MARIN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Tradicional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664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$12.208.933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$5.940.770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48,7%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$5.940.770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48,7%</a:t>
                      </a:r>
                    </a:p>
                  </a:txBody>
                  <a:tcPr marL="36576" marR="36576" marT="9144" marB="9144" anchor="ctr">
                    <a:solidFill>
                      <a:srgbClr val="E78D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1300026026 - RAFAEL ALBERTO SANCHEZ 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1.769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$28.216.000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$5.367.252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19,0%</a:t>
                      </a:r>
                    </a:p>
                  </a:txBody>
                  <a:tcPr marL="36576" marR="36576" marT="9144" marB="9144" anchor="ctr">
                    <a:solidFill>
                      <a:srgbClr val="FC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$5.367.252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19,0%</a:t>
                      </a:r>
                    </a:p>
                  </a:txBody>
                  <a:tcPr marL="36576" marR="36576" marT="9144" marB="9144" anchor="ctr">
                    <a:solidFill>
                      <a:srgbClr val="FAE7D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1300031833 - IMPERIO WINGS S.A.S.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1.319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$22.260.370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$5.268.386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23,7%</a:t>
                      </a:r>
                    </a:p>
                  </a:txBody>
                  <a:tcPr marL="36576" marR="36576" marT="9144" marB="9144" anchor="ctr">
                    <a:solidFill>
                      <a:srgbClr val="F9E4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$5.268.386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23,7%</a:t>
                      </a:r>
                    </a:p>
                  </a:txBody>
                  <a:tcPr marL="36576" marR="36576" marT="9144" marB="9144" anchor="ctr">
                    <a:solidFill>
                      <a:srgbClr val="F7D9C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1300028483 - ALEJANDRO BEDOYA GUTIERRE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$14.878.440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$4.552.184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30,6%</a:t>
                      </a:r>
                    </a:p>
                  </a:txBody>
                  <a:tcPr marL="36576" marR="36576" marT="9144" marB="9144" anchor="ctr">
                    <a:solidFill>
                      <a:srgbClr val="F4CCB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$3.931.620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26,4%</a:t>
                      </a:r>
                    </a:p>
                  </a:txBody>
                  <a:tcPr marL="36576" marR="36576" marT="9144" marB="9144" anchor="ctr">
                    <a:solidFill>
                      <a:srgbClr val="F5D1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$620.564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4,2%</a:t>
                      </a:r>
                    </a:p>
                  </a:txBody>
                  <a:tcPr marL="36576" marR="36576" marT="9144" marB="9144" anchor="ctr">
                    <a:solidFill>
                      <a:srgbClr val="EDA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1300015407 - CRISTIAN CAMILO ARISTIZAB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1.403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$22.029.455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$4.276.047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19,4%</a:t>
                      </a:r>
                    </a:p>
                  </a:txBody>
                  <a:tcPr marL="36576" marR="36576" marT="9144" marB="9144" anchor="ctr">
                    <a:solidFill>
                      <a:srgbClr val="FC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$3.166.252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14,4%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$1.109.795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5,0%</a:t>
                      </a:r>
                    </a:p>
                  </a:txBody>
                  <a:tcPr marL="36576" marR="36576" marT="9144" marB="9144" anchor="ctr">
                    <a:solidFill>
                      <a:srgbClr val="EA9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1300020822 - DANIEL FELIPE CASTAÑO SOT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996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$16.404.495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$3.984.515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24,3%</a:t>
                      </a:r>
                    </a:p>
                  </a:txBody>
                  <a:tcPr marL="36576" marR="36576" marT="9144" marB="9144" anchor="ctr">
                    <a:solidFill>
                      <a:srgbClr val="F8E2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$3.984.515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24,3%</a:t>
                      </a:r>
                    </a:p>
                  </a:txBody>
                  <a:tcPr marL="36576" marR="36576" marT="9144" marB="9144" anchor="ctr">
                    <a:solidFill>
                      <a:srgbClr val="F6D7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1300007866 - JORGE DIEGO BUSTAMANTE PI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$11.681.519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$3.946.423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F2C1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$3.623.919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31,0%</a:t>
                      </a:r>
                    </a:p>
                  </a:txBody>
                  <a:tcPr marL="36576" marR="36576" marT="9144" marB="9144" anchor="ctr">
                    <a:solidFill>
                      <a:srgbClr val="F2C3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$322.504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2,8%</a:t>
                      </a:r>
                    </a:p>
                  </a:txBody>
                  <a:tcPr marL="36576" marR="36576" marT="9144" marB="9144" anchor="ctr">
                    <a:solidFill>
                      <a:srgbClr val="F2C4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1300034297 - NEW ORLEANS LA SAS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1.099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$19.074.296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$3.750.432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19,7%</a:t>
                      </a:r>
                    </a:p>
                  </a:txBody>
                  <a:tcPr marL="36576" marR="36576" marT="9144" marB="9144" anchor="ctr">
                    <a:solidFill>
                      <a:srgbClr val="FC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$3.750.432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19,7%</a:t>
                      </a:r>
                    </a:p>
                  </a:txBody>
                  <a:tcPr marL="36576" marR="36576" marT="9144" marB="9144" anchor="ctr">
                    <a:solidFill>
                      <a:srgbClr val="F9E5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1300007571 - HOTEL TERMALES EL OTOÑO 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$11.577.065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$3.630.079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31,4%</a:t>
                      </a:r>
                    </a:p>
                  </a:txBody>
                  <a:tcPr marL="36576" marR="36576" marT="9144" marB="9144" anchor="ctr">
                    <a:solidFill>
                      <a:srgbClr val="F3C9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$3.121.921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27,0%</a:t>
                      </a:r>
                    </a:p>
                  </a:txBody>
                  <a:tcPr marL="36576" marR="36576" marT="9144" marB="9144" anchor="ctr">
                    <a:solidFill>
                      <a:srgbClr val="F5CFB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$508.158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4,4%</a:t>
                      </a:r>
                    </a:p>
                  </a:txBody>
                  <a:tcPr marL="36576" marR="36576" marT="9144" marB="9144" anchor="ctr">
                    <a:solidFill>
                      <a:srgbClr val="ECA7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1300007958 - JORGE HERNAN SANTACRUZ PA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517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$10.729.062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$3.623.585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F2C1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$3.621.653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33,8%</a:t>
                      </a:r>
                    </a:p>
                  </a:txBody>
                  <a:tcPr marL="36576" marR="36576" marT="9144" marB="9144" anchor="ctr">
                    <a:solidFill>
                      <a:srgbClr val="F0BB9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$1.932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1300007665 - ARBEY COLLAZOS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Amas de casa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435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$9.045.880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$3.607.869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39,9%</a:t>
                      </a:r>
                    </a:p>
                  </a:txBody>
                  <a:tcPr marL="36576" marR="36576" marT="9144" marB="9144" anchor="ctr">
                    <a:solidFill>
                      <a:srgbClr val="EDA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$3.607.869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39,9%</a:t>
                      </a:r>
                    </a:p>
                  </a:txBody>
                  <a:tcPr marL="36576" marR="36576" marT="9144" marB="9144" anchor="ctr">
                    <a:solidFill>
                      <a:srgbClr val="ECA88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79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B0B0B"/>
                          </a:solidFill>
                        </a:rPr>
                        <a:t>1300034653 - YAMILLET AGUIRRE GRILLO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Institucional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1.204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$19.050.265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$3.529.887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18,5%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$3.529.887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18,5%</a:t>
                      </a:r>
                    </a:p>
                  </a:txBody>
                  <a:tcPr marL="36576" marR="36576" marT="9144" marB="9144" anchor="ctr">
                    <a:solidFill>
                      <a:srgbClr val="FAE9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$0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B0B0B"/>
                          </a:solidFill>
                        </a:rPr>
                        <a:t>0,0%</a:t>
                      </a:r>
                    </a:p>
                  </a:txBody>
                  <a:tcPr marL="36576" marR="36576" marT="9144" marB="9144" anchor="ctr">
                    <a:solidFill>
                      <a:srgbClr val="F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12854</Words>
  <Application>Microsoft Office PowerPoint</Application>
  <PresentationFormat>Panorámica</PresentationFormat>
  <Paragraphs>4667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Alejandro Figueredo Salamanca</cp:lastModifiedBy>
  <cp:revision>3</cp:revision>
  <dcterms:created xsi:type="dcterms:W3CDTF">2013-01-27T09:14:16Z</dcterms:created>
  <dcterms:modified xsi:type="dcterms:W3CDTF">2026-10-19T15:15:57Z</dcterms:modified>
  <cp:category/>
</cp:coreProperties>
</file>